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1463040"/>
            <a:ext cx="73152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254061"/>
                </a:solidFill>
                <a:latin typeface="Malgun Gothic"/>
                <a:ea typeface="Malgun Gothic"/>
                <a:cs typeface="Malgun Gothic"/>
                <a:sym typeface="Malgun Gothic"/>
              </a:rPr>
              <a:t>CampusMatch (캠퍼스매치)</a:t>
            </a:r>
            <a:endParaRPr/>
          </a:p>
          <a:p>
            <a:pPr indent="0" lvl="0" marL="0" marR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숭실대학교 전용 스터디 &amp; 프로젝트 팀원 매칭 플랫폼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914400" y="3657600"/>
            <a:ext cx="7315200" cy="123110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AI소프트웨어학부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30팀 (트란트룽하우, 황뚱백, 응웬치롱, 응오후인트, 피오아웅)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 차</a:t>
            </a:r>
            <a:endParaRPr/>
          </a:p>
        </p:txBody>
      </p:sp>
      <p:sp>
        <p:nvSpPr>
          <p:cNvPr id="92" name="Google Shape;92;p14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953735"/>
          </a:solidFill>
          <a:ln cap="flat" cmpd="sng" w="9525">
            <a:solidFill>
              <a:srgbClr val="95373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94" name="Google Shape;94;p14"/>
          <p:cNvSpPr/>
          <p:nvPr/>
        </p:nvSpPr>
        <p:spPr>
          <a:xfrm>
            <a:off x="822960" y="1508760"/>
            <a:ext cx="822960" cy="365760"/>
          </a:xfrm>
          <a:prstGeom prst="roundRect">
            <a:avLst>
              <a:gd fmla="val 16667" name="adj"/>
            </a:avLst>
          </a:prstGeom>
          <a:solidFill>
            <a:srgbClr val="004AC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1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828800" y="146304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프로젝트 요약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120640" y="150876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과제 개요, 핵심 문제 해결, 기대 효과</a:t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822960" y="2331720"/>
            <a:ext cx="822960" cy="365760"/>
          </a:xfrm>
          <a:prstGeom prst="roundRect">
            <a:avLst>
              <a:gd fmla="val 16667" name="adj"/>
            </a:avLst>
          </a:prstGeom>
          <a:solidFill>
            <a:srgbClr val="004AC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2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1828800" y="228600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시스템 주요 기능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120640" y="233172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서비스 흐름 및 4대 핵심 기능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822960" y="3154680"/>
            <a:ext cx="822960" cy="365760"/>
          </a:xfrm>
          <a:prstGeom prst="roundRect">
            <a:avLst>
              <a:gd fmla="val 16667" name="adj"/>
            </a:avLst>
          </a:prstGeom>
          <a:solidFill>
            <a:srgbClr val="004AC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3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828800" y="31089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5120640" y="315468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환경, 디자인 시스템, 5대 화면 설계, ERD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822960" y="3977640"/>
            <a:ext cx="822960" cy="365760"/>
          </a:xfrm>
          <a:prstGeom prst="roundRect">
            <a:avLst>
              <a:gd fmla="val 16667" name="adj"/>
            </a:avLst>
          </a:prstGeom>
          <a:solidFill>
            <a:srgbClr val="E2E8F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4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828800" y="393192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프로젝트 전체 일정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5120640" y="397764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기획, 구현, 테스트 일정 (예정)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822960" y="4800600"/>
            <a:ext cx="822960" cy="365760"/>
          </a:xfrm>
          <a:prstGeom prst="roundRect">
            <a:avLst>
              <a:gd fmla="val 16667" name="adj"/>
            </a:avLst>
          </a:prstGeom>
          <a:solidFill>
            <a:srgbClr val="E2E8F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5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1828800" y="475488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5. 팀원 역할 및 활동 내용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120640" y="480060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팀원별 담당 화면 및 개발 업무 (예정)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822960" y="5623559"/>
            <a:ext cx="822960" cy="365760"/>
          </a:xfrm>
          <a:prstGeom prst="roundRect">
            <a:avLst>
              <a:gd fmla="val 16667" name="adj"/>
            </a:avLst>
          </a:prstGeom>
          <a:solidFill>
            <a:srgbClr val="E2E8F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6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1828800" y="557784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6. 프로젝트 수행 소감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5120640" y="5623559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소감 및 질의응답 (예정)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5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프로젝트 요약</a:t>
            </a:r>
            <a:endParaRPr/>
          </a:p>
        </p:txBody>
      </p:sp>
      <p:sp>
        <p:nvSpPr>
          <p:cNvPr id="117" name="Google Shape;117;p15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548640" y="1188720"/>
            <a:ext cx="1188720" cy="2286000"/>
          </a:xfrm>
          <a:prstGeom prst="roundRect">
            <a:avLst>
              <a:gd fmla="val 16667" name="adj"/>
            </a:avLst>
          </a:prstGeom>
          <a:solidFill>
            <a:srgbClr val="2540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요약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1920240" y="1188720"/>
            <a:ext cx="6675120" cy="22860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2103120" y="1280160"/>
            <a:ext cx="630936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🎯 숭실대학교 u-SAINT 연동 전용 스터디 &amp; 프로젝트 팀 매칭 플랫폼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100% 실명·학적 검증: 에브리타임/카톡의 '익명성, 잠적, 프리라이더' 문제 해결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1-Click u-SAINT SSO: 별도 가입 없이 학생 포털 계정으로 1초 로그인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안전한 보안 아키텍처: 학생 비밀번호를 서버에 저장하지 않음 (Zero Password Retention)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포지션별 쿼터제: 프론트엔드/백엔드/디자인 등 역할별 정원(Role Quota) 설정</a:t>
            </a:r>
            <a:endParaRPr/>
          </a:p>
        </p:txBody>
      </p:sp>
      <p:sp>
        <p:nvSpPr>
          <p:cNvPr id="122" name="Google Shape;122;p15"/>
          <p:cNvSpPr/>
          <p:nvPr/>
        </p:nvSpPr>
        <p:spPr>
          <a:xfrm>
            <a:off x="548640" y="3840480"/>
            <a:ext cx="1188720" cy="2286000"/>
          </a:xfrm>
          <a:prstGeom prst="roundRect">
            <a:avLst>
              <a:gd fmla="val 16667" name="adj"/>
            </a:avLst>
          </a:prstGeom>
          <a:solidFill>
            <a:srgbClr val="2540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기대효과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1920240" y="3840480"/>
            <a:ext cx="6675120" cy="22860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2103120" y="4140925"/>
            <a:ext cx="6309360" cy="12618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0B981"/>
                </a:solidFill>
                <a:latin typeface="Malgun Gothic"/>
                <a:ea typeface="Malgun Gothic"/>
                <a:cs typeface="Malgun Gothic"/>
                <a:sym typeface="Malgun Gothic"/>
              </a:rPr>
              <a:t>🚀 학생 협업 성공률 극대화 및 안전한 교내 개발 생태계 구축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팀 이탈률 0% 지향: 검증된 학우 간 매칭으로 책임감 있는 협업 환경 제공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팀 빌딩 시간 70% 단축: 단과대/학부/개설과목(캡스톤 등) 필터로 빠른 인재 발굴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리더 구인 스트레스 해소: 지원서 검토 및 원클릭 승인/반려(Accept/Reject)로 손쉬운 관리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시스템 주요 기능 - (1) 서비스 흐름도</a:t>
            </a:r>
            <a:endParaRPr/>
          </a:p>
        </p:txBody>
      </p:sp>
      <p:sp>
        <p:nvSpPr>
          <p:cNvPr id="130" name="Google Shape;130;p16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132" name="Google Shape;132;p16"/>
          <p:cNvSpPr/>
          <p:nvPr/>
        </p:nvSpPr>
        <p:spPr>
          <a:xfrm>
            <a:off x="548640" y="1371600"/>
            <a:ext cx="1536192" cy="4297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640080" y="1508760"/>
            <a:ext cx="1353312" cy="411480"/>
          </a:xfrm>
          <a:prstGeom prst="roundRect">
            <a:avLst>
              <a:gd fmla="val 16667" name="adj"/>
            </a:avLst>
          </a:prstGeom>
          <a:solidFill>
            <a:srgbClr val="004AC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1단계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621792" y="2011680"/>
            <a:ext cx="138988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u-SAINT SSO 인증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40080" y="2651760"/>
            <a:ext cx="1353312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포털 ID/PW 1초 로그인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단과대·학과·학년 자동동기화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JWT 보안 세션 발급</a:t>
            </a:r>
            <a:endParaRPr/>
          </a:p>
        </p:txBody>
      </p:sp>
      <p:sp>
        <p:nvSpPr>
          <p:cNvPr id="136" name="Google Shape;136;p16"/>
          <p:cNvSpPr/>
          <p:nvPr/>
        </p:nvSpPr>
        <p:spPr>
          <a:xfrm>
            <a:off x="2221991" y="1371600"/>
            <a:ext cx="1536192" cy="4297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2313432" y="1508760"/>
            <a:ext cx="1353312" cy="411480"/>
          </a:xfrm>
          <a:prstGeom prst="roundRect">
            <a:avLst>
              <a:gd fmla="val 16667" name="adj"/>
            </a:avLst>
          </a:prstGeom>
          <a:solidFill>
            <a:srgbClr val="2540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2단계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2295144" y="2011680"/>
            <a:ext cx="138988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그룹 탐색 &amp; 필터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2313432" y="2651760"/>
            <a:ext cx="1353312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단과대 / 학부 / 연도 필터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과목명 및 기술스택 검색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카드 형태 한눈에 확인</a:t>
            </a:r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3895344" y="1371600"/>
            <a:ext cx="1536192" cy="4297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3986783" y="1508760"/>
            <a:ext cx="1353312" cy="411480"/>
          </a:xfrm>
          <a:prstGeom prst="roundRect">
            <a:avLst>
              <a:gd fmla="val 16667" name="adj"/>
            </a:avLst>
          </a:prstGeom>
          <a:solidFill>
            <a:srgbClr val="E46C0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3단계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3968496" y="2011680"/>
            <a:ext cx="138988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모집 공고 등록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3986783" y="2651760"/>
            <a:ext cx="1353312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스터디/프로젝트 소개 작성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역할별 인원(FE/BE) 설정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모집 마감일 지정</a:t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5568695" y="1371600"/>
            <a:ext cx="1536192" cy="4297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5660135" y="1508760"/>
            <a:ext cx="1353312" cy="411480"/>
          </a:xfrm>
          <a:prstGeom prst="roundRect">
            <a:avLst>
              <a:gd fmla="val 16667" name="adj"/>
            </a:avLst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4단계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5641847" y="2011680"/>
            <a:ext cx="138988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간편 지원 접수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5660135" y="2651760"/>
            <a:ext cx="1353312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그룹 상세 요강 확인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지원 동기 &amp; 희망 역할 선택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원클릭 지원서 제출</a:t>
            </a:r>
            <a:endParaRPr/>
          </a:p>
        </p:txBody>
      </p:sp>
      <p:sp>
        <p:nvSpPr>
          <p:cNvPr id="148" name="Google Shape;148;p16"/>
          <p:cNvSpPr/>
          <p:nvPr/>
        </p:nvSpPr>
        <p:spPr>
          <a:xfrm>
            <a:off x="7242047" y="1371600"/>
            <a:ext cx="1536192" cy="4297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7333488" y="1508760"/>
            <a:ext cx="1353312" cy="41148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5단계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7315199" y="2011680"/>
            <a:ext cx="138988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리더 승인 &amp; 확정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7333488" y="2651760"/>
            <a:ext cx="1353312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지원서 검토 대시보드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원클릭 [수락] / [거절]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정원 도달 시 자동 마감</a:t>
            </a:r>
            <a:endParaRPr/>
          </a:p>
        </p:txBody>
      </p:sp>
      <p:sp>
        <p:nvSpPr>
          <p:cNvPr id="152" name="Google Shape;152;p16"/>
          <p:cNvSpPr/>
          <p:nvPr/>
        </p:nvSpPr>
        <p:spPr>
          <a:xfrm>
            <a:off x="548640" y="5897880"/>
            <a:ext cx="8046720" cy="640080"/>
          </a:xfrm>
          <a:prstGeom prst="roundRect">
            <a:avLst>
              <a:gd fmla="val 16667" name="adj"/>
            </a:avLst>
          </a:prstGeom>
          <a:solidFill>
            <a:srgbClr val="F1F5F9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731520" y="5989320"/>
            <a:ext cx="7680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Malgun Gothic"/>
                <a:ea typeface="Malgun Gothic"/>
                <a:cs typeface="Malgun Gothic"/>
                <a:sym typeface="Malgun Gothic"/>
              </a:rPr>
              <a:t>💡 요약: 학교 공식 u-SAINT 인증을 시작으로 [탐색 ➔ 지원 ➔ 승인]까지 모든 단계가 원스톱으로 연결됩니다.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시스템 주요 기능 - (2) 4대 핵심 기능</a:t>
            </a:r>
            <a:endParaRPr/>
          </a:p>
        </p:txBody>
      </p:sp>
      <p:sp>
        <p:nvSpPr>
          <p:cNvPr id="159" name="Google Shape;159;p17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161" name="Google Shape;161;p17"/>
          <p:cNvSpPr/>
          <p:nvPr/>
        </p:nvSpPr>
        <p:spPr>
          <a:xfrm>
            <a:off x="548640" y="1188720"/>
            <a:ext cx="3886200" cy="2468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685800" y="1298448"/>
            <a:ext cx="36118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u-SAINT SSO 간편 인증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학생 포털 연동 &amp; 비밀번호 미저장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685800" y="1965960"/>
            <a:ext cx="36118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별도 회원가입 없이 학교 포털 계정으로 바로 로그인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이름, 학번, 소속 단과대, 학과, 학년 정보 자동 동기화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비밀번호는 메모리 확인 후 즉시 파기 (보안성 100%)</a:t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4709160" y="1188720"/>
            <a:ext cx="3886200" cy="2468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4846320" y="1298448"/>
            <a:ext cx="36118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54061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3단계 학적 필터 &amp; 스마트 검색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단과대 · 학부 · 연도별 정밀 매칭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4846320" y="1965960"/>
            <a:ext cx="3611880" cy="1066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단과대학(IT대학 등) ➔ 학부(소프트웨어 등) ➔ 연도별 필터링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과목 코드(예: CS490), 프로젝트 제목, 기술스택 실시간 검색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모집 상태(모집중/마감) 및 최신순 정렬 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548640" y="3840480"/>
            <a:ext cx="3886200" cy="2468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7"/>
          <p:cNvSpPr txBox="1"/>
          <p:nvPr/>
        </p:nvSpPr>
        <p:spPr>
          <a:xfrm>
            <a:off x="685800" y="3950208"/>
            <a:ext cx="3611880" cy="5027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46C0A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역할별 인원 관리 (Role Quota)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포지션에 필요한 인원과 모집 현황을 확인하고 관리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685800" y="4617720"/>
            <a:ext cx="36118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Frontend, Backend, Designer 등 포지션별 정원 설정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실시간 충원 프로그레스 바 제공 (예: FE 1/2, BE 2/2)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특정 포지션 쏠림 현상 방지 및 팀 밸런스 유지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4709160" y="3840480"/>
            <a:ext cx="3886200" cy="2468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 txBox="1"/>
          <p:nvPr/>
        </p:nvSpPr>
        <p:spPr>
          <a:xfrm>
            <a:off x="4846320" y="3950208"/>
            <a:ext cx="36118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0B981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리더 관리 &amp; 실시간 마이페이지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원클릭 승인/반려 및 지원 현황 추적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4846320" y="4617720"/>
            <a:ext cx="36118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리더 대시보드에서 지원서 확인 후 원클릭 [수락] / [거절]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수락 시 정식 팀원 자동 등록 &amp; 정원 충족 시 자동 마감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지원자 마이페이지에서 심사 상태(검토중/승인/반려) 실시간 확인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8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(1) 시스템 구축 환경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  <p:sp>
        <p:nvSpPr>
          <p:cNvPr id="180" name="Google Shape;180;p18"/>
          <p:cNvSpPr/>
          <p:nvPr/>
        </p:nvSpPr>
        <p:spPr>
          <a:xfrm>
            <a:off x="548640" y="1188720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 txBox="1"/>
          <p:nvPr/>
        </p:nvSpPr>
        <p:spPr>
          <a:xfrm>
            <a:off x="731520" y="1371600"/>
            <a:ext cx="3520440" cy="475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🎨 UX / UI 설계 &amp; 프로토타이핑 도구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Figma (UI/UX 프로토타입)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와이어프레임 및 고해상도 목업 100% 설계 완료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Custom Atomic Design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외부 무거운 라이브러리 대신 직접 구축한 가벼운 UI 토큰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반응형 웹 레이아웃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모바일, 태블릿, 데스크톱 화면 최적화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BFF 보안 게이트웨이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Next.js Route Handler로 학교 포털 인증 트래픽 안전 격리</a:t>
            </a: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4709160" y="1188720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4892040" y="1371600"/>
            <a:ext cx="3520440" cy="475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54061"/>
                </a:solidFill>
                <a:latin typeface="Malgun Gothic"/>
                <a:ea typeface="Malgun Gothic"/>
                <a:cs typeface="Malgun Gothic"/>
                <a:sym typeface="Malgun Gothic"/>
              </a:rPr>
              <a:t>⚙️ 개발 기술 스택 (Tech Stack)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Frontend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- Next.js 16 (App Router), React 19, TypeScript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- Tailwind CSS v4, Zustand Store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Backend API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- Java 17/21, Spring Boot 3.4, Spring Data JPA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- Spring Security, Stateless JWT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Database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- PostgreSQL 16 on Neon.tech (Cloud Serverless)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- SSL 암호화 연결, HikariCP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배포 &amp; 운영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- Vercel Global Edge (웹 호스팅)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- Oracle Cloud Free VM (백엔드 서버 24시간 가동)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9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(2) UI/UX 디자인 시스템</a:t>
            </a:r>
            <a:endParaRPr/>
          </a:p>
        </p:txBody>
      </p:sp>
      <p:sp>
        <p:nvSpPr>
          <p:cNvPr id="189" name="Google Shape;189;p19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9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/>
          </a:p>
        </p:txBody>
      </p:sp>
      <p:sp>
        <p:nvSpPr>
          <p:cNvPr id="191" name="Google Shape;191;p19"/>
          <p:cNvSpPr/>
          <p:nvPr/>
        </p:nvSpPr>
        <p:spPr>
          <a:xfrm>
            <a:off x="548640" y="1188720"/>
            <a:ext cx="256032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 txBox="1"/>
          <p:nvPr/>
        </p:nvSpPr>
        <p:spPr>
          <a:xfrm>
            <a:off x="685800" y="1371600"/>
            <a:ext cx="2286000" cy="475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🎨 컬러 &amp; 테마 토큰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숭실 블루 (Primary)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#004AC6 대표 메인 컬러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상태 컬러 (Status)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초록(모집중), 노랑(대기), 빨강(마감)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다크/라이트 모드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CSS 변수 기반 원클릭 즉시 전환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시각 피로 완화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야간 학습 시 눈이 편안한 대비 적용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3291840" y="1188720"/>
            <a:ext cx="256032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3429000" y="1371600"/>
            <a:ext cx="2286000" cy="475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54061"/>
                </a:solidFill>
                <a:latin typeface="Malgun Gothic"/>
                <a:ea typeface="Malgun Gothic"/>
                <a:cs typeface="Malgun Gothic"/>
                <a:sym typeface="Malgun Gothic"/>
              </a:rPr>
              <a:t>🔤 서체 &amp; 스타일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서체 (Typography)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Pretendard / Malgun Gothic 적용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폰트 위계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H1(32px) ~ Body(14px) 체계화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모던 라운딩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rounded-xl (12px) 부드러운 곡률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호버 인터랙션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카드 마우스 오버 시 부드러운 그림자</a:t>
            </a:r>
            <a:endParaRPr/>
          </a:p>
        </p:txBody>
      </p:sp>
      <p:sp>
        <p:nvSpPr>
          <p:cNvPr id="195" name="Google Shape;195;p19"/>
          <p:cNvSpPr/>
          <p:nvPr/>
        </p:nvSpPr>
        <p:spPr>
          <a:xfrm>
            <a:off x="6035040" y="1188720"/>
            <a:ext cx="256032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9"/>
          <p:cNvSpPr txBox="1"/>
          <p:nvPr/>
        </p:nvSpPr>
        <p:spPr>
          <a:xfrm>
            <a:off x="6172200" y="1371600"/>
            <a:ext cx="2286000" cy="475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46C0A"/>
                </a:solidFill>
                <a:latin typeface="Malgun Gothic"/>
                <a:ea typeface="Malgun Gothic"/>
                <a:cs typeface="Malgun Gothic"/>
                <a:sym typeface="Malgun Gothic"/>
              </a:rPr>
              <a:t>🧩 공통 재사용 컴포넌트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Button &amp; Input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Primary, Outline, SearchInput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Badge &amp; Tag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상태 뱃지, 학과 및 기술스택 태그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Card &amp; Modal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GroupCard, Quick Apply 모달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RoleQuota &amp; Avatar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포지션 정원 바, 멤버 아바타 그룹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0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(3) 로그인 &amp; 랜딩 페이지 [피오아웅]</a:t>
            </a:r>
            <a:endParaRPr/>
          </a:p>
        </p:txBody>
      </p:sp>
      <p:sp>
        <p:nvSpPr>
          <p:cNvPr id="202" name="Google Shape;202;p20"/>
          <p:cNvSpPr/>
          <p:nvPr/>
        </p:nvSpPr>
        <p:spPr>
          <a:xfrm>
            <a:off x="548640" y="1049274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0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/>
          </a:p>
        </p:txBody>
      </p:sp>
      <p:sp>
        <p:nvSpPr>
          <p:cNvPr id="204" name="Google Shape;204;p20"/>
          <p:cNvSpPr/>
          <p:nvPr/>
        </p:nvSpPr>
        <p:spPr>
          <a:xfrm>
            <a:off x="548640" y="1188720"/>
            <a:ext cx="3931920" cy="512064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 txBox="1"/>
          <p:nvPr/>
        </p:nvSpPr>
        <p:spPr>
          <a:xfrm>
            <a:off x="731520" y="1280160"/>
            <a:ext cx="1588897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📱 화면 레이아웃 </a:t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4709160" y="1188720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892040" y="1371600"/>
            <a:ext cx="3520440" cy="34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📋 담당 역할 &amp; 핵심 구현 기능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담당 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피오아웅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개발 화면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u-SAINT SSO 로그인 모달 &amp; 메인 랜딩 페이지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SSO 인증 연동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학교 포털(smartid.ssu.ac.kr)과 연동하여 별도 회원가입 없이 즉시 학적 정보(학과/학년) 가져오기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보안 설계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포털 비밀번호는 서버에 일절 저장하지 않으며, JWT 토큰으로 안전하게 로그인 유지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자동 모달 유도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비로그인 상태로 그룹/마이페이지 접속 시 자동으로 로그인 팝업을 띄우고 완료 후 복귀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4953" y="1782207"/>
            <a:ext cx="3884091" cy="39085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(4) 그룹 탐색 &amp; 필터링 [트란트룽하우]</a:t>
            </a:r>
            <a:endParaRPr/>
          </a:p>
        </p:txBody>
      </p:sp>
      <p:sp>
        <p:nvSpPr>
          <p:cNvPr id="214" name="Google Shape;214;p21"/>
          <p:cNvSpPr/>
          <p:nvPr/>
        </p:nvSpPr>
        <p:spPr>
          <a:xfrm>
            <a:off x="548640" y="1071263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/>
          </a:p>
        </p:txBody>
      </p:sp>
      <p:sp>
        <p:nvSpPr>
          <p:cNvPr id="216" name="Google Shape;216;p21"/>
          <p:cNvSpPr/>
          <p:nvPr/>
        </p:nvSpPr>
        <p:spPr>
          <a:xfrm>
            <a:off x="548640" y="1188720"/>
            <a:ext cx="4160520" cy="5468112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 txBox="1"/>
          <p:nvPr/>
        </p:nvSpPr>
        <p:spPr>
          <a:xfrm>
            <a:off x="853440" y="1333282"/>
            <a:ext cx="1588897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📱 화면 레이아웃 </a:t>
            </a:r>
            <a:endParaRPr/>
          </a:p>
        </p:txBody>
      </p:sp>
      <p:sp>
        <p:nvSpPr>
          <p:cNvPr id="218" name="Google Shape;218;p21"/>
          <p:cNvSpPr/>
          <p:nvPr/>
        </p:nvSpPr>
        <p:spPr>
          <a:xfrm>
            <a:off x="4906832" y="1188720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 txBox="1"/>
          <p:nvPr/>
        </p:nvSpPr>
        <p:spPr>
          <a:xfrm>
            <a:off x="5074920" y="1479476"/>
            <a:ext cx="3520440" cy="35779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📋 담당 역할 &amp; 핵심 구현 기능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담당 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트란트룽하우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개발 화면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Groups 목록 페이지 &amp; 빠른 지원 모달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3단계 학적 필터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단과대학(IT대학) ➔ 학부(소프트웨어) ➔ 개설년도 드롭다운으로 원하는 스터디/프로젝트 정확하게 필터링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키워드 통합 검색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과목코드(CS490), React/Spring 등 사용 기술, 프로젝트 제목 실시간 검색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카드 그리드 &amp; 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한 페이지당 6개씩 카드 형태로 표시하고, [빠른 지원] 버튼 클릭 시 모달에서 즉시 지원서 제출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3440" y="1583625"/>
            <a:ext cx="3540899" cy="473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2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(4-1) 그룹 상세 정보 (Group Detail) [트란트룽하우]</a:t>
            </a:r>
            <a:endParaRPr/>
          </a:p>
        </p:txBody>
      </p:sp>
      <p:sp>
        <p:nvSpPr>
          <p:cNvPr id="226" name="Google Shape;226;p22"/>
          <p:cNvSpPr/>
          <p:nvPr/>
        </p:nvSpPr>
        <p:spPr>
          <a:xfrm>
            <a:off x="457200" y="1062990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2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/>
          </a:p>
        </p:txBody>
      </p:sp>
      <p:sp>
        <p:nvSpPr>
          <p:cNvPr id="228" name="Google Shape;228;p22"/>
          <p:cNvSpPr/>
          <p:nvPr/>
        </p:nvSpPr>
        <p:spPr>
          <a:xfrm>
            <a:off x="548640" y="1188720"/>
            <a:ext cx="3931920" cy="512064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731520" y="128016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📱 화면 레이아웃 (Group Detail)</a:t>
            </a:r>
            <a:endParaRPr/>
          </a:p>
        </p:txBody>
      </p:sp>
      <p:sp>
        <p:nvSpPr>
          <p:cNvPr id="230" name="Google Shape;230;p22"/>
          <p:cNvSpPr/>
          <p:nvPr/>
        </p:nvSpPr>
        <p:spPr>
          <a:xfrm>
            <a:off x="685800" y="4160520"/>
            <a:ext cx="3657600" cy="2011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 txBox="1"/>
          <p:nvPr/>
        </p:nvSpPr>
        <p:spPr>
          <a:xfrm>
            <a:off x="777240" y="4251960"/>
            <a:ext cx="34747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💡 화면 핵심 구성 영역 (Key Sections)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상단 헤더: 과목코드, 모집상태 뱃지, 미팅방식, 실시간 다국어 번역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프로젝트 개요: 상세 소개, A+ 지향 목표, 주간 정기 모임 일정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포지션별 쿼터: FE/BE 등 직군별 정원 시각화 바 &amp; Filled/Open 뱃지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리더 &amp; 로스터: u-SAINT 학적 인증 팀장 프로필 및 참여 팀원 목록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실시간 지원 CTA: 모집 충족률(%) 및 즉시 지원 (Apply to Join)</a:t>
            </a:r>
            <a:endParaRPr/>
          </a:p>
        </p:txBody>
      </p:sp>
      <p:sp>
        <p:nvSpPr>
          <p:cNvPr id="232" name="Google Shape;232;p22"/>
          <p:cNvSpPr/>
          <p:nvPr/>
        </p:nvSpPr>
        <p:spPr>
          <a:xfrm>
            <a:off x="4709160" y="1188720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4892040" y="1325880"/>
            <a:ext cx="3520440" cy="3559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📋 담당 역할 &amp; 핵심 구현 기능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담당 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트란트룽하우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개발 화면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Group Detail (스터디/프로젝트 상세 정보 페이지)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프로젝트 개요 &amp; 정기 일정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과제 목표(A+ 학점 지향), 주간 정기 모임(Hybrid Zoom/오프라인) 일정을 상세 명시하여 적합한 팀원 매칭 유도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포지션별 쿼터(Role Quota) 시각화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Frontend Developer, Backend Developer, Fullstack / DevOps 선택</a:t>
            </a:r>
            <a:endParaRPr b="0" i="0" sz="1050" u="none" cap="none" strike="noStrike">
              <a:solidFill>
                <a:srgbClr val="334155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팀장 프로필 &amp; 멤버 로스터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u-SAINT 학적 기반 개설자 신원(전공/학번/이메일)과 현재 팀 합류 멤버 목록을 투명하게 공개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원클릭 지원 CTA &amp; 반응형 최적화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모집 충족률(%) 게이지, [Apply to Join Group] 버튼, 모바일 Sticky Bar 및 다국어 실시간 번역 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" name="Google Shape;234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411" y="1584670"/>
            <a:ext cx="3877149" cy="2377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3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(4-2) 지원서 작성 모달 (Application Modal) [트란트룽하우]</a:t>
            </a:r>
            <a:endParaRPr/>
          </a:p>
        </p:txBody>
      </p:sp>
      <p:sp>
        <p:nvSpPr>
          <p:cNvPr id="240" name="Google Shape;240;p23"/>
          <p:cNvSpPr/>
          <p:nvPr/>
        </p:nvSpPr>
        <p:spPr>
          <a:xfrm>
            <a:off x="457200" y="1081278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/>
          </a:p>
        </p:txBody>
      </p:sp>
      <p:sp>
        <p:nvSpPr>
          <p:cNvPr id="242" name="Google Shape;242;p23"/>
          <p:cNvSpPr/>
          <p:nvPr/>
        </p:nvSpPr>
        <p:spPr>
          <a:xfrm>
            <a:off x="548640" y="1188720"/>
            <a:ext cx="3931920" cy="512064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731520" y="128016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📱 화면 레이아웃 (Application Modal)</a:t>
            </a:r>
            <a:endParaRPr/>
          </a:p>
        </p:txBody>
      </p:sp>
      <p:sp>
        <p:nvSpPr>
          <p:cNvPr id="244" name="Google Shape;244;p23"/>
          <p:cNvSpPr/>
          <p:nvPr/>
        </p:nvSpPr>
        <p:spPr>
          <a:xfrm>
            <a:off x="4709160" y="1188720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3"/>
          <p:cNvSpPr txBox="1"/>
          <p:nvPr/>
        </p:nvSpPr>
        <p:spPr>
          <a:xfrm>
            <a:off x="4892040" y="1325880"/>
            <a:ext cx="3520440" cy="36471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📋 담당 역할 &amp; 핵심 구현 기능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담당 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트란트룽하우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개발 화면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ApplyModal (프로젝트/스터디 지원서 팝업 모달)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u-SAINT 학적 자동 연동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로그인된 학우의 정보(학번, 학부, 학년)를 u-SAINT 인증 뱃지와 함께 자동 매핑하여 신원 신뢰도 확보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지원 희망 포지션(Desired Role) 선택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해당 그룹에서 모집 중인 오픈 포지션(Frontend, Backend 등)을 원클릭 토글 버튼으로 직관적 선택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지원 동기 &amp; 포부 작성 (500자)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관련 수강 과목, 프로젝트 기여 목표 작성 및 실시간 글자 수 카운터(0/500자) 및 필수 입력 유효성 검사 적용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기술 스택 &amp; 외부 포트폴리오 연동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React, Next.js, Python 등 사용 가능 기술과 GitHub, 개인 포트폴리오 링크를 첨부하여 선발 심사 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" name="Google Shape;24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263" y="1737360"/>
            <a:ext cx="3258197" cy="417859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7" name="Google Shape;247;p23"/>
          <p:cNvCxnSpPr/>
          <p:nvPr/>
        </p:nvCxnSpPr>
        <p:spPr>
          <a:xfrm>
            <a:off x="1343925" y="2714575"/>
            <a:ext cx="208500" cy="600"/>
          </a:xfrm>
          <a:prstGeom prst="straightConnector1">
            <a:avLst/>
          </a:pr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(5) 신규 그룹 개설 [황뚱백]</a:t>
            </a:r>
            <a:endParaRPr/>
          </a:p>
        </p:txBody>
      </p:sp>
      <p:sp>
        <p:nvSpPr>
          <p:cNvPr id="253" name="Google Shape;253;p24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/>
          </a:p>
        </p:txBody>
      </p:sp>
      <p:sp>
        <p:nvSpPr>
          <p:cNvPr id="255" name="Google Shape;255;p24"/>
          <p:cNvSpPr/>
          <p:nvPr/>
        </p:nvSpPr>
        <p:spPr>
          <a:xfrm>
            <a:off x="548640" y="1188720"/>
            <a:ext cx="3931920" cy="512064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4"/>
          <p:cNvSpPr txBox="1"/>
          <p:nvPr/>
        </p:nvSpPr>
        <p:spPr>
          <a:xfrm>
            <a:off x="731520" y="1280160"/>
            <a:ext cx="1588897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📱 화면 레이아웃 </a:t>
            </a:r>
            <a:endParaRPr/>
          </a:p>
        </p:txBody>
      </p:sp>
      <p:sp>
        <p:nvSpPr>
          <p:cNvPr id="257" name="Google Shape;257;p24"/>
          <p:cNvSpPr/>
          <p:nvPr/>
        </p:nvSpPr>
        <p:spPr>
          <a:xfrm>
            <a:off x="822960" y="1737360"/>
            <a:ext cx="3383280" cy="4297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4"/>
          <p:cNvSpPr txBox="1"/>
          <p:nvPr/>
        </p:nvSpPr>
        <p:spPr>
          <a:xfrm>
            <a:off x="960120" y="1920240"/>
            <a:ext cx="3108960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4"/>
          <p:cNvSpPr/>
          <p:nvPr/>
        </p:nvSpPr>
        <p:spPr>
          <a:xfrm>
            <a:off x="4709160" y="1188720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4"/>
          <p:cNvSpPr txBox="1"/>
          <p:nvPr/>
        </p:nvSpPr>
        <p:spPr>
          <a:xfrm>
            <a:off x="4892040" y="1371600"/>
            <a:ext cx="3520440" cy="34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📋 담당 역할 &amp; 핵심 구현 기능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담당 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황뚱백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개발 화면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Create Group (스터디/팀원 모집 공고 작성)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학적 정보 자동 연결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로그인한 사용자의 소속(IT대학, 소프트웨어학부)이 공고에 자동 반영되어 입력 부담 최소화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역할별 쿼터 빌더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FE, BE, AI, 디자이너 등 원하는 포지션을 직접 추가하고 각각의 모집 인원 설정 가능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유효성 검사 &amp; 권한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필수 항목(제목, 인원수, 마감일) 체크 후 등록 완료 시 작성자는 자동으로 해당 팀의 LEADER로 지정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1" name="Google Shape;26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5821" y="2174156"/>
            <a:ext cx="3257558" cy="3137962"/>
          </a:xfrm>
          <a:prstGeom prst="rect">
            <a:avLst/>
          </a:prstGeom>
          <a:noFill/>
          <a:ln>
            <a:noFill/>
          </a:ln>
          <a:effectLst>
            <a:outerShdw blurRad="292100" rotWithShape="0" algn="tl" dir="2700000" dist="139700">
              <a:srgbClr val="333333">
                <a:alpha val="65098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5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(6) 그룹 관리 워크스페이스 [응오후인트]</a:t>
            </a:r>
            <a:endParaRPr/>
          </a:p>
        </p:txBody>
      </p:sp>
      <p:sp>
        <p:nvSpPr>
          <p:cNvPr id="267" name="Google Shape;267;p25"/>
          <p:cNvSpPr/>
          <p:nvPr/>
        </p:nvSpPr>
        <p:spPr>
          <a:xfrm>
            <a:off x="548640" y="1065276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5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/>
          </a:p>
        </p:txBody>
      </p:sp>
      <p:sp>
        <p:nvSpPr>
          <p:cNvPr id="269" name="Google Shape;269;p25"/>
          <p:cNvSpPr/>
          <p:nvPr/>
        </p:nvSpPr>
        <p:spPr>
          <a:xfrm>
            <a:off x="439783" y="1321308"/>
            <a:ext cx="3931920" cy="512064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5"/>
          <p:cNvSpPr txBox="1"/>
          <p:nvPr/>
        </p:nvSpPr>
        <p:spPr>
          <a:xfrm>
            <a:off x="622663" y="1412748"/>
            <a:ext cx="1588897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📱 화면 레이아웃 </a:t>
            </a:r>
            <a:endParaRPr/>
          </a:p>
        </p:txBody>
      </p:sp>
      <p:sp>
        <p:nvSpPr>
          <p:cNvPr id="271" name="Google Shape;271;p25"/>
          <p:cNvSpPr/>
          <p:nvPr/>
        </p:nvSpPr>
        <p:spPr>
          <a:xfrm>
            <a:off x="4772299" y="1321308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5"/>
          <p:cNvSpPr txBox="1"/>
          <p:nvPr/>
        </p:nvSpPr>
        <p:spPr>
          <a:xfrm>
            <a:off x="4955179" y="1504188"/>
            <a:ext cx="3520440" cy="36394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📋 담당 역할 &amp; 핵심 구현 기능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담당 팀원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응오후인트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개발 화면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Manage (그룹 관리 및 지원자 심사 페이지)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리더 대시보드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내가 개설한 프로젝트의 현재 팀원 수와 모집 진행 상태를 한눈에 파악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지원자 검토 카드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지원자의 u-SAINT 실명, 학과, 학년, 희망 포지션, 지원 메시지를 카드로 직관적 제공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원클릭 수락/거절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[수락] 클릭 시 즉시 정식 팀원으로 등록되며, 정원이 모두 차면 공고가 자동으로 모집 마감 처리됨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3" name="Google Shape;27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0817" y="2823689"/>
            <a:ext cx="3709852" cy="12106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6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(7) 마이페이지 [응웬치롱]</a:t>
            </a:r>
            <a:endParaRPr/>
          </a:p>
        </p:txBody>
      </p:sp>
      <p:sp>
        <p:nvSpPr>
          <p:cNvPr id="279" name="Google Shape;279;p26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6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/>
          </a:p>
        </p:txBody>
      </p:sp>
      <p:sp>
        <p:nvSpPr>
          <p:cNvPr id="281" name="Google Shape;281;p26"/>
          <p:cNvSpPr/>
          <p:nvPr/>
        </p:nvSpPr>
        <p:spPr>
          <a:xfrm>
            <a:off x="548640" y="1188720"/>
            <a:ext cx="3931920" cy="512064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6"/>
          <p:cNvSpPr txBox="1"/>
          <p:nvPr/>
        </p:nvSpPr>
        <p:spPr>
          <a:xfrm>
            <a:off x="731520" y="1280160"/>
            <a:ext cx="1588897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📱 화면 레이아웃 </a:t>
            </a:r>
            <a:endParaRPr/>
          </a:p>
        </p:txBody>
      </p:sp>
      <p:sp>
        <p:nvSpPr>
          <p:cNvPr id="283" name="Google Shape;283;p26"/>
          <p:cNvSpPr/>
          <p:nvPr/>
        </p:nvSpPr>
        <p:spPr>
          <a:xfrm>
            <a:off x="4709160" y="1188720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6"/>
          <p:cNvSpPr txBox="1"/>
          <p:nvPr/>
        </p:nvSpPr>
        <p:spPr>
          <a:xfrm>
            <a:off x="4892040" y="1371600"/>
            <a:ext cx="3520440" cy="34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📋 담당 역할 &amp; 핵심 구현 기능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담당 팀원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응웬치롱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개발 화면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My Page (학생 개인 프로필 및 활동 관리)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학적 프로필 카드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u-SAINT 연동 정보(이름, 학번, 소속 단과대/학부, 학년)와 보유 기술 스택 뱃지 표시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참여 그룹 목록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내가 현재 속해 있는 프로젝트/스터디 목록 및 팀원 현황 한눈에 확인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지원 결과 실시간 추적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내가 지원한 그룹의 심사 결과를 [검토중 (🟡)], [승인됨 (🟢)], [반려됨 (🔴)] 뱃지로 즉시 파악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5" name="Google Shape;28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872" y="1825661"/>
            <a:ext cx="3543456" cy="3769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7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시스템 설계 - (8) 데이터베이스 설계 (ERD)</a:t>
            </a:r>
            <a:endParaRPr/>
          </a:p>
        </p:txBody>
      </p:sp>
      <p:sp>
        <p:nvSpPr>
          <p:cNvPr id="291" name="Google Shape;291;p27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 cap="flat" cmpd="sng" w="9525">
            <a:solidFill>
              <a:srgbClr val="E46C0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7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/>
          </a:p>
        </p:txBody>
      </p:sp>
      <p:sp>
        <p:nvSpPr>
          <p:cNvPr id="293" name="Google Shape;293;p27"/>
          <p:cNvSpPr/>
          <p:nvPr/>
        </p:nvSpPr>
        <p:spPr>
          <a:xfrm>
            <a:off x="548640" y="1188720"/>
            <a:ext cx="1920240" cy="23774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7"/>
          <p:cNvSpPr txBox="1"/>
          <p:nvPr/>
        </p:nvSpPr>
        <p:spPr>
          <a:xfrm>
            <a:off x="621792" y="1280160"/>
            <a:ext cx="177393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 (학생 정보)</a:t>
            </a:r>
            <a:endParaRPr/>
          </a:p>
        </p:txBody>
      </p:sp>
      <p:sp>
        <p:nvSpPr>
          <p:cNvPr id="295" name="Google Shape;295;p27"/>
          <p:cNvSpPr txBox="1"/>
          <p:nvPr/>
        </p:nvSpPr>
        <p:spPr>
          <a:xfrm>
            <a:off x="621792" y="1691640"/>
            <a:ext cx="1773936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id (PK, BIGINT)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student_id (UNIQUE)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name, email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department, faculty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academic_year</a:t>
            </a:r>
            <a:endParaRPr/>
          </a:p>
        </p:txBody>
      </p:sp>
      <p:sp>
        <p:nvSpPr>
          <p:cNvPr id="296" name="Google Shape;296;p27"/>
          <p:cNvSpPr/>
          <p:nvPr/>
        </p:nvSpPr>
        <p:spPr>
          <a:xfrm>
            <a:off x="2560320" y="1188720"/>
            <a:ext cx="1920240" cy="23774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7"/>
          <p:cNvSpPr txBox="1"/>
          <p:nvPr/>
        </p:nvSpPr>
        <p:spPr>
          <a:xfrm>
            <a:off x="2633472" y="1280160"/>
            <a:ext cx="177393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54061"/>
                </a:solidFill>
                <a:latin typeface="Malgun Gothic"/>
                <a:ea typeface="Malgun Gothic"/>
                <a:cs typeface="Malgun Gothic"/>
                <a:sym typeface="Malgun Gothic"/>
              </a:rPr>
              <a:t>study_groups (모집 그룹)</a:t>
            </a:r>
            <a:endParaRPr/>
          </a:p>
        </p:txBody>
      </p:sp>
      <p:sp>
        <p:nvSpPr>
          <p:cNvPr id="298" name="Google Shape;298;p27"/>
          <p:cNvSpPr txBox="1"/>
          <p:nvPr/>
        </p:nvSpPr>
        <p:spPr>
          <a:xfrm>
            <a:off x="2633472" y="1691640"/>
            <a:ext cx="1773936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id (PK, BIGINT)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leader_id (FK -&gt; users)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title, description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college, department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post_year, max_members</a:t>
            </a:r>
            <a:endParaRPr/>
          </a:p>
        </p:txBody>
      </p:sp>
      <p:sp>
        <p:nvSpPr>
          <p:cNvPr id="299" name="Google Shape;299;p27"/>
          <p:cNvSpPr/>
          <p:nvPr/>
        </p:nvSpPr>
        <p:spPr>
          <a:xfrm>
            <a:off x="548640" y="3840480"/>
            <a:ext cx="1920240" cy="23774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7"/>
          <p:cNvSpPr txBox="1"/>
          <p:nvPr/>
        </p:nvSpPr>
        <p:spPr>
          <a:xfrm>
            <a:off x="621792" y="3931920"/>
            <a:ext cx="177393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46C0A"/>
                </a:solidFill>
                <a:latin typeface="Malgun Gothic"/>
                <a:ea typeface="Malgun Gothic"/>
                <a:cs typeface="Malgun Gothic"/>
                <a:sym typeface="Malgun Gothic"/>
              </a:rPr>
              <a:t>applications (지원서)</a:t>
            </a:r>
            <a:endParaRPr/>
          </a:p>
        </p:txBody>
      </p:sp>
      <p:sp>
        <p:nvSpPr>
          <p:cNvPr id="301" name="Google Shape;301;p27"/>
          <p:cNvSpPr txBox="1"/>
          <p:nvPr/>
        </p:nvSpPr>
        <p:spPr>
          <a:xfrm>
            <a:off x="621792" y="4343400"/>
            <a:ext cx="1773936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id (PK, BIGINT)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group_id (FK -&gt; study_groups)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applicant_id (FK -&gt; users)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statement (지원 동기)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status (PENDING, ACCEPTED)</a:t>
            </a:r>
            <a:endParaRPr/>
          </a:p>
        </p:txBody>
      </p:sp>
      <p:sp>
        <p:nvSpPr>
          <p:cNvPr id="302" name="Google Shape;302;p27"/>
          <p:cNvSpPr/>
          <p:nvPr/>
        </p:nvSpPr>
        <p:spPr>
          <a:xfrm>
            <a:off x="2560320" y="3840480"/>
            <a:ext cx="1920240" cy="23774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7"/>
          <p:cNvSpPr txBox="1"/>
          <p:nvPr/>
        </p:nvSpPr>
        <p:spPr>
          <a:xfrm>
            <a:off x="2633472" y="3931920"/>
            <a:ext cx="1773936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0B981"/>
                </a:solidFill>
                <a:latin typeface="Malgun Gothic"/>
                <a:ea typeface="Malgun Gothic"/>
                <a:cs typeface="Malgun Gothic"/>
                <a:sym typeface="Malgun Gothic"/>
              </a:rPr>
              <a:t>group_members (팀원 매핑)</a:t>
            </a:r>
            <a:endParaRPr/>
          </a:p>
        </p:txBody>
      </p:sp>
      <p:sp>
        <p:nvSpPr>
          <p:cNvPr id="304" name="Google Shape;304;p27"/>
          <p:cNvSpPr txBox="1"/>
          <p:nvPr/>
        </p:nvSpPr>
        <p:spPr>
          <a:xfrm>
            <a:off x="2633472" y="4343400"/>
            <a:ext cx="1773936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group_id (PK, FK)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user_id  (PK, FK)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role (LEADER / MEMBER)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joined_at (가입일시)</a:t>
            </a:r>
            <a:endParaRPr/>
          </a:p>
        </p:txBody>
      </p:sp>
      <p:sp>
        <p:nvSpPr>
          <p:cNvPr id="305" name="Google Shape;305;p27"/>
          <p:cNvSpPr/>
          <p:nvPr/>
        </p:nvSpPr>
        <p:spPr>
          <a:xfrm>
            <a:off x="4709160" y="1188720"/>
            <a:ext cx="3886200" cy="5120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4892040" y="1371600"/>
            <a:ext cx="3520440" cy="475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rPr>
              <a:t>🛡️ DB 무결성 및 성능 최적화 포인트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중복 지원 차단 (Unique)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applications 테이블에 (group_id, applicant_id) 복합 유니크 제약으로 중복 지원 원천 방지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초고속 3단계 검색 (Index)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study_groups 테이블의 단과대, 학과, 연도 컬럼에 B-Tree 인덱스를 설정하여 대규모 공고도 즉시 조회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비밀번호 미보관 (보안)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users 테이블에 비밀번호 컬럼 자체가 없으며, u-SAINT 포털 검증 후 JWT 세션만 발급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4AC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Neon Serverless Cloud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Malgun Gothic"/>
                <a:ea typeface="Malgun Gothic"/>
                <a:cs typeface="Malgun Gothic"/>
                <a:sym typeface="Malgun Gothic"/>
              </a:rPr>
              <a:t>  클라우드 분산 PostgreSQL로 자동 스케일링 및 SSL 암호화 안전 연결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