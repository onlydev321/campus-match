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1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14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63040"/>
            <a:ext cx="7315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54061"/>
                </a:solidFill>
                <a:latin typeface="Malgun Gothic"/>
              </a:defRPr>
            </a:pPr>
            <a:r>
              <a:t>CampusMatch (캠퍼스매치)</a:t>
            </a:r>
          </a:p>
          <a:p>
            <a:pPr algn="ctr">
              <a:spcBef>
                <a:spcPts val="1200"/>
              </a:spcBef>
              <a:defRPr sz="1800">
                <a:solidFill>
                  <a:srgbClr val="334155"/>
                </a:solidFill>
                <a:latin typeface="Malgun Gothic"/>
              </a:defRPr>
            </a:pPr>
            <a:r>
              <a:t>숭실대학교 전용 스터디 &amp; 프로젝트 팀원 매칭 플랫폼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1E293B"/>
                </a:solidFill>
                <a:latin typeface="Malgun Gothic"/>
              </a:defRPr>
            </a:pPr>
            <a:endParaRPr dirty="0"/>
          </a:p>
          <a:p>
            <a:pPr algn="ctr">
              <a:spcBef>
                <a:spcPts val="1200"/>
              </a:spcBef>
              <a:defRPr sz="1800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AI소프트웨어학부</a:t>
            </a:r>
            <a:endParaRPr dirty="0"/>
          </a:p>
          <a:p>
            <a:pPr algn="ctr">
              <a:spcBef>
                <a:spcPts val="1200"/>
              </a:spcBef>
              <a:defRPr sz="1800" b="1">
                <a:solidFill>
                  <a:srgbClr val="004AC6"/>
                </a:solidFill>
                <a:latin typeface="Malgun Gothic"/>
              </a:defRPr>
            </a:pPr>
            <a:r>
              <a:rPr dirty="0"/>
              <a:t>1팀 (</a:t>
            </a:r>
            <a:r>
              <a:rPr dirty="0" err="1"/>
              <a:t>트란트룽하우</a:t>
            </a:r>
            <a:r>
              <a:rPr dirty="0"/>
              <a:t>, </a:t>
            </a:r>
            <a:r>
              <a:rPr dirty="0" err="1"/>
              <a:t>황뚱백</a:t>
            </a:r>
            <a:r>
              <a:rPr dirty="0"/>
              <a:t>, </a:t>
            </a:r>
            <a:r>
              <a:rPr dirty="0" err="1"/>
              <a:t>응웬치롱</a:t>
            </a:r>
            <a:r>
              <a:rPr dirty="0"/>
              <a:t>, </a:t>
            </a:r>
            <a:r>
              <a:rPr dirty="0" err="1"/>
              <a:t>응오후인트</a:t>
            </a:r>
            <a:r>
              <a:rPr dirty="0"/>
              <a:t>, </a:t>
            </a:r>
            <a:r>
              <a:rPr dirty="0" err="1"/>
              <a:t>피오아웅</a:t>
            </a: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목 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953735"/>
          </a:solidFill>
          <a:ln>
            <a:solidFill>
              <a:srgbClr val="953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822960" cy="365760"/>
          </a:xfrm>
          <a:prstGeom prst="roundRect">
            <a:avLst/>
          </a:prstGeom>
          <a:solidFill>
            <a:srgbClr val="004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algun Gothic"/>
              </a:defRPr>
            </a:pPr>
            <a:r>
              <a:t>1. 프로젝트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5087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과제 개요, 핵심 문제 해결, 기대 효과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822960" cy="365760"/>
          </a:xfrm>
          <a:prstGeom prst="roundRect">
            <a:avLst/>
          </a:prstGeom>
          <a:solidFill>
            <a:srgbClr val="004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Part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algun Gothic"/>
              </a:defRPr>
            </a:pPr>
            <a:r>
              <a:t>2. 시스템 주요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331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전체 서비스 흐름 및 4대 핵심 기능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54680"/>
            <a:ext cx="822960" cy="365760"/>
          </a:xfrm>
          <a:prstGeom prst="roundRect">
            <a:avLst/>
          </a:prstGeom>
          <a:solidFill>
            <a:srgbClr val="004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Part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089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algun Gothic"/>
              </a:defRPr>
            </a:pPr>
            <a:r>
              <a:t>3. 시스템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154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개발 환경, 디자인 시스템, 5대 화면 설계, ERD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40"/>
            <a:ext cx="822960" cy="365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Part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4. 프로젝트 전체 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9776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기획, 구현, 테스트 일정 (예정)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00600"/>
            <a:ext cx="822960" cy="365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Part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54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5. 팀원 역할 및 활동 내용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800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팀원별 담당 화면 및 개발 업무 (예정)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623559"/>
            <a:ext cx="822960" cy="365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Part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5778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6. 프로젝트 수행 소감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623559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개발 소감 및 질의응답 (예정)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1. 프로젝트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88720" cy="2286000"/>
          </a:xfrm>
          <a:prstGeom prst="roundRect">
            <a:avLst/>
          </a:prstGeom>
          <a:solidFill>
            <a:srgbClr val="254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188720"/>
            <a:ext cx="667512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1280160"/>
            <a:ext cx="6309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4AC6"/>
                </a:solidFill>
                <a:latin typeface="Malgun Gothic"/>
              </a:defRPr>
            </a:pPr>
            <a:r>
              <a:t>🎯 숭실대학교 u-SAINT 연동 전용 스터디 &amp; 프로젝트 팀 매칭 플랫폼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Malgun Gothic"/>
              </a:defRPr>
            </a:pPr>
            <a:r>
              <a:t>• 100% 실명·학적 검증: 에브리타임/카톡의 '익명성, 잠적, 프리라이더' 문제 해결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Malgun Gothic"/>
              </a:defRPr>
            </a:pPr>
            <a:r>
              <a:t>• 1-Click u-SAINT SSO: 별도 가입 없이 학생 포털 계정으로 1초 로그인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Malgun Gothic"/>
              </a:defRPr>
            </a:pPr>
            <a:r>
              <a:t>• 안전한 보안 아키텍처: 학생 비밀번호를 서버에 저장하지 않음 (Zero Password Retention)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Malgun Gothic"/>
              </a:defRPr>
            </a:pPr>
            <a:r>
              <a:t>• 포지션별 쿼터제: 프론트엔드/백엔드/디자인 등 역할별 정원(Role Quota) 설정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1188720" cy="2286000"/>
          </a:xfrm>
          <a:prstGeom prst="roundRect">
            <a:avLst/>
          </a:prstGeom>
          <a:solidFill>
            <a:srgbClr val="254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기대효과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3840480"/>
            <a:ext cx="667512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4140925"/>
            <a:ext cx="630936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rPr dirty="0"/>
              <a:t>🚀 </a:t>
            </a:r>
            <a:r>
              <a:rPr dirty="0" err="1"/>
              <a:t>학생</a:t>
            </a:r>
            <a:r>
              <a:rPr dirty="0"/>
              <a:t> </a:t>
            </a:r>
            <a:r>
              <a:rPr dirty="0" err="1"/>
              <a:t>협업</a:t>
            </a:r>
            <a:r>
              <a:rPr dirty="0"/>
              <a:t> </a:t>
            </a:r>
            <a:r>
              <a:rPr dirty="0" err="1"/>
              <a:t>성공률</a:t>
            </a:r>
            <a:r>
              <a:rPr dirty="0"/>
              <a:t> </a:t>
            </a:r>
            <a:r>
              <a:rPr dirty="0" err="1"/>
              <a:t>극대화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안전한</a:t>
            </a:r>
            <a:r>
              <a:rPr dirty="0"/>
              <a:t> </a:t>
            </a:r>
            <a:r>
              <a:rPr dirty="0" err="1"/>
              <a:t>교내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생태계</a:t>
            </a:r>
            <a:r>
              <a:rPr dirty="0"/>
              <a:t> </a:t>
            </a:r>
            <a:r>
              <a:rPr dirty="0" err="1"/>
              <a:t>구축</a:t>
            </a:r>
            <a:endParaRPr dirty="0"/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이탈률</a:t>
            </a:r>
            <a:r>
              <a:rPr dirty="0"/>
              <a:t> 0% </a:t>
            </a:r>
            <a:r>
              <a:rPr dirty="0" err="1"/>
              <a:t>지향</a:t>
            </a:r>
            <a:r>
              <a:rPr dirty="0"/>
              <a:t>: </a:t>
            </a:r>
            <a:r>
              <a:rPr dirty="0" err="1"/>
              <a:t>검증된</a:t>
            </a:r>
            <a:r>
              <a:rPr dirty="0"/>
              <a:t> </a:t>
            </a:r>
            <a:r>
              <a:rPr dirty="0" err="1"/>
              <a:t>학우</a:t>
            </a:r>
            <a:r>
              <a:rPr dirty="0"/>
              <a:t> </a:t>
            </a:r>
            <a:r>
              <a:rPr dirty="0" err="1"/>
              <a:t>간</a:t>
            </a:r>
            <a:r>
              <a:rPr dirty="0"/>
              <a:t> </a:t>
            </a:r>
            <a:r>
              <a:rPr dirty="0" err="1"/>
              <a:t>매칭으로</a:t>
            </a:r>
            <a:r>
              <a:rPr dirty="0"/>
              <a:t> </a:t>
            </a:r>
            <a:r>
              <a:rPr dirty="0" err="1"/>
              <a:t>책임감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협업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제공</a:t>
            </a:r>
            <a:endParaRPr dirty="0"/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빌딩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70% </a:t>
            </a:r>
            <a:r>
              <a:rPr dirty="0" err="1"/>
              <a:t>단축</a:t>
            </a:r>
            <a:r>
              <a:rPr dirty="0"/>
              <a:t>: </a:t>
            </a:r>
            <a:r>
              <a:rPr dirty="0" err="1"/>
              <a:t>단과대</a:t>
            </a:r>
            <a:r>
              <a:rPr dirty="0"/>
              <a:t>/</a:t>
            </a:r>
            <a:r>
              <a:rPr dirty="0" err="1"/>
              <a:t>학부</a:t>
            </a:r>
            <a:r>
              <a:rPr dirty="0"/>
              <a:t>/</a:t>
            </a:r>
            <a:r>
              <a:rPr dirty="0" err="1"/>
              <a:t>개설과목</a:t>
            </a:r>
            <a:r>
              <a:rPr dirty="0"/>
              <a:t>(</a:t>
            </a:r>
            <a:r>
              <a:rPr dirty="0" err="1"/>
              <a:t>캡스톤</a:t>
            </a:r>
            <a:r>
              <a:rPr dirty="0"/>
              <a:t> </a:t>
            </a:r>
            <a:r>
              <a:rPr dirty="0" err="1"/>
              <a:t>등</a:t>
            </a:r>
            <a:r>
              <a:rPr dirty="0"/>
              <a:t>) </a:t>
            </a:r>
            <a:r>
              <a:rPr dirty="0" err="1"/>
              <a:t>필터로</a:t>
            </a:r>
            <a:r>
              <a:rPr dirty="0"/>
              <a:t> </a:t>
            </a: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인재</a:t>
            </a:r>
            <a:r>
              <a:rPr dirty="0"/>
              <a:t> </a:t>
            </a:r>
            <a:r>
              <a:rPr dirty="0" err="1"/>
              <a:t>발굴</a:t>
            </a:r>
            <a:endParaRPr dirty="0"/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리더</a:t>
            </a:r>
            <a:r>
              <a:rPr dirty="0"/>
              <a:t> </a:t>
            </a:r>
            <a:r>
              <a:rPr dirty="0" err="1"/>
              <a:t>구인</a:t>
            </a:r>
            <a:r>
              <a:rPr dirty="0"/>
              <a:t> </a:t>
            </a:r>
            <a:r>
              <a:rPr dirty="0" err="1"/>
              <a:t>스트레스</a:t>
            </a:r>
            <a:r>
              <a:rPr dirty="0"/>
              <a:t> </a:t>
            </a:r>
            <a:r>
              <a:rPr dirty="0" err="1"/>
              <a:t>해소</a:t>
            </a:r>
            <a:r>
              <a:rPr dirty="0"/>
              <a:t>: </a:t>
            </a:r>
            <a:r>
              <a:rPr dirty="0" err="1"/>
              <a:t>지원서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원클릭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/</a:t>
            </a:r>
            <a:r>
              <a:rPr dirty="0" err="1"/>
              <a:t>반려</a:t>
            </a:r>
            <a:r>
              <a:rPr dirty="0"/>
              <a:t>(Accept/Reject)</a:t>
            </a:r>
            <a:r>
              <a:rPr dirty="0" err="1"/>
              <a:t>로</a:t>
            </a:r>
            <a:r>
              <a:rPr dirty="0"/>
              <a:t> </a:t>
            </a:r>
            <a:r>
              <a:rPr dirty="0" err="1"/>
              <a:t>손쉬운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2. 시스템 주요 기능 - (1) 서비스 흐름도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536192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353312" cy="411480"/>
          </a:xfrm>
          <a:prstGeom prst="roundRect">
            <a:avLst/>
          </a:prstGeom>
          <a:solidFill>
            <a:srgbClr val="004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1단계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11680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u-SAINT SSO 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3533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포털 ID/PW 1초 로그인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단과대·학과·학년 자동동기화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JWT 보안 세션 발급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21991" y="1371600"/>
            <a:ext cx="1536192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13432" y="1508760"/>
            <a:ext cx="1353312" cy="411480"/>
          </a:xfrm>
          <a:prstGeom prst="roundRect">
            <a:avLst/>
          </a:prstGeom>
          <a:solidFill>
            <a:srgbClr val="254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2단계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5144" y="2011680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그룹 탐색 &amp; 필터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2651760"/>
            <a:ext cx="13533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단과대 / 학부 / 연도 필터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과목명 및 기술스택 검색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카드 형태 한눈에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95344" y="1371600"/>
            <a:ext cx="1536192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986783" y="1508760"/>
            <a:ext cx="1353312" cy="411480"/>
          </a:xfrm>
          <a:prstGeom prst="roundRect">
            <a:avLst/>
          </a:prstGeom>
          <a:solidFill>
            <a:srgbClr val="E4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3단계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2011680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모집 공고 등록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6783" y="2651760"/>
            <a:ext cx="13533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스터디/프로젝트 소개 작성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역할별 인원(FE/BE) 설정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모집 마감일 지정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68695" y="1371600"/>
            <a:ext cx="1536192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60135" y="1508760"/>
            <a:ext cx="1353312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4단계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1847" y="2011680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간편 지원 접수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0135" y="2651760"/>
            <a:ext cx="13533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그룹 상세 요강 확인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지원 동기 &amp; 희망 역할 선택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원클릭 지원서 제출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42047" y="1371600"/>
            <a:ext cx="1536192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33488" y="1508760"/>
            <a:ext cx="1353312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5단계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9" y="2011680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리더 승인 &amp; 확정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2651760"/>
            <a:ext cx="13533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지원서 검토 대시보드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원클릭 [수락] / [거절]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정원 도달 시 자동 마감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97880"/>
            <a:ext cx="804672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9893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💡 요약: 학교 공식 u-SAINT 인증을 시작으로 [탐색 ➔ 지원 ➔ 승인]까지 모든 단계가 원스톱으로 연결됩니다.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2. 시스템 주요 기능 - (2) 4대 핵심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88620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4AC6"/>
                </a:solidFill>
                <a:latin typeface="Malgun Gothic"/>
              </a:defRPr>
            </a:pPr>
            <a:r>
              <a:t>1. u-SAINT SSO 간편 인증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학생 포털 연동 &amp; 비밀번호 미저장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611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별도 회원가입 없이 학교 포털 계정으로 바로 로그인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이름, 학번, 소속 단과대, 학과, 학년 정보 자동 동기화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비밀번호는 메모리 확인 후 즉시 파기 (보안성 100%)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188720"/>
            <a:ext cx="388620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298448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4061"/>
                </a:solidFill>
                <a:latin typeface="Malgun Gothic"/>
              </a:defRPr>
            </a:pPr>
            <a:r>
              <a:t>2. 3단계 학적 필터 &amp; 스마트 검색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단과대 · 학부 · 연도별 정밀 매칭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65960"/>
            <a:ext cx="361188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단과대학</a:t>
            </a:r>
            <a:r>
              <a:rPr dirty="0"/>
              <a:t>(</a:t>
            </a:r>
            <a:r>
              <a:rPr dirty="0" err="1"/>
              <a:t>IT대학</a:t>
            </a:r>
            <a:r>
              <a:rPr dirty="0"/>
              <a:t> </a:t>
            </a:r>
            <a:r>
              <a:rPr dirty="0" err="1"/>
              <a:t>등</a:t>
            </a:r>
            <a:r>
              <a:rPr dirty="0"/>
              <a:t>) ➔ </a:t>
            </a:r>
            <a:r>
              <a:rPr dirty="0" err="1"/>
              <a:t>학부</a:t>
            </a:r>
            <a:r>
              <a:rPr dirty="0"/>
              <a:t>(</a:t>
            </a:r>
            <a:r>
              <a:rPr dirty="0" err="1"/>
              <a:t>소프트웨어</a:t>
            </a:r>
            <a:r>
              <a:rPr dirty="0"/>
              <a:t> </a:t>
            </a:r>
            <a:r>
              <a:rPr dirty="0" err="1"/>
              <a:t>등</a:t>
            </a:r>
            <a:r>
              <a:rPr dirty="0"/>
              <a:t>) ➔ </a:t>
            </a:r>
            <a:r>
              <a:rPr dirty="0" err="1"/>
              <a:t>연도별</a:t>
            </a:r>
            <a:r>
              <a:rPr dirty="0"/>
              <a:t> </a:t>
            </a:r>
            <a:r>
              <a:rPr dirty="0" err="1"/>
              <a:t>필터링</a:t>
            </a:r>
            <a:endParaRPr dirty="0"/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과목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dirty="0"/>
              <a:t>CS490),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제목</a:t>
            </a:r>
            <a:r>
              <a:rPr dirty="0"/>
              <a:t>, </a:t>
            </a:r>
            <a:r>
              <a:rPr dirty="0" err="1"/>
              <a:t>기술스택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검색</a:t>
            </a:r>
            <a:endParaRPr dirty="0"/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모집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(</a:t>
            </a:r>
            <a:r>
              <a:rPr dirty="0" err="1"/>
              <a:t>모집중</a:t>
            </a:r>
            <a:r>
              <a:rPr dirty="0"/>
              <a:t>/</a:t>
            </a:r>
            <a:r>
              <a:rPr dirty="0" err="1"/>
              <a:t>마감</a:t>
            </a:r>
            <a:r>
              <a:rPr dirty="0"/>
              <a:t>)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최신순</a:t>
            </a:r>
            <a:r>
              <a:rPr dirty="0"/>
              <a:t> </a:t>
            </a:r>
            <a:r>
              <a:rPr dirty="0" err="1"/>
              <a:t>정렬</a:t>
            </a:r>
            <a:r>
              <a:rPr dirty="0"/>
              <a:t> </a:t>
            </a:r>
            <a:r>
              <a:rPr dirty="0" err="1"/>
              <a:t>지원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388620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950208"/>
            <a:ext cx="361188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46C0A"/>
                </a:solidFill>
                <a:latin typeface="Malgun Gothic"/>
              </a:defRPr>
            </a:pPr>
            <a:r>
              <a:rPr dirty="0"/>
              <a:t>3. </a:t>
            </a:r>
            <a:r>
              <a:rPr dirty="0" err="1"/>
              <a:t>역할별</a:t>
            </a:r>
            <a:r>
              <a:rPr dirty="0"/>
              <a:t> </a:t>
            </a:r>
            <a:r>
              <a:rPr lang="en-KR" sz="1400" b="1" dirty="0">
                <a:solidFill>
                  <a:srgbClr val="E46C0A"/>
                </a:solidFill>
                <a:latin typeface="Malgun Gothic"/>
              </a:rPr>
              <a:t>인원 관리 </a:t>
            </a:r>
            <a:r>
              <a:rPr dirty="0"/>
              <a:t>(Role Quota)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lang="en-KR" sz="1100" dirty="0">
                <a:solidFill>
                  <a:srgbClr val="64748B"/>
                </a:solidFill>
                <a:latin typeface="Malgun Gothic"/>
              </a:rPr>
              <a:t>각 포지션에 필요한 인원과 모집 현황을 확인하고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17720"/>
            <a:ext cx="3611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Frontend, Backend, Designer </a:t>
            </a:r>
            <a:r>
              <a:rPr dirty="0" err="1"/>
              <a:t>등</a:t>
            </a:r>
            <a:r>
              <a:rPr dirty="0"/>
              <a:t> </a:t>
            </a:r>
            <a:r>
              <a:rPr dirty="0" err="1"/>
              <a:t>포지션별</a:t>
            </a:r>
            <a:r>
              <a:rPr dirty="0"/>
              <a:t> </a:t>
            </a:r>
            <a:r>
              <a:rPr dirty="0" err="1"/>
              <a:t>정원</a:t>
            </a:r>
            <a:r>
              <a:rPr dirty="0"/>
              <a:t> </a:t>
            </a:r>
            <a:r>
              <a:rPr dirty="0" err="1"/>
              <a:t>설정</a:t>
            </a:r>
            <a:endParaRPr dirty="0"/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충원</a:t>
            </a:r>
            <a:r>
              <a:rPr dirty="0"/>
              <a:t> </a:t>
            </a:r>
            <a:r>
              <a:rPr dirty="0" err="1"/>
              <a:t>프로그레스</a:t>
            </a:r>
            <a:r>
              <a:rPr dirty="0"/>
              <a:t> </a:t>
            </a:r>
            <a:r>
              <a:rPr dirty="0" err="1"/>
              <a:t>바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(</a:t>
            </a:r>
            <a:r>
              <a:rPr dirty="0" err="1"/>
              <a:t>예</a:t>
            </a:r>
            <a:r>
              <a:rPr dirty="0"/>
              <a:t>: FE 1/2, BE 2/2)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포지션</a:t>
            </a:r>
            <a:r>
              <a:rPr dirty="0"/>
              <a:t> </a:t>
            </a:r>
            <a:r>
              <a:rPr dirty="0" err="1"/>
              <a:t>쏠림</a:t>
            </a:r>
            <a:r>
              <a:rPr dirty="0"/>
              <a:t> </a:t>
            </a:r>
            <a:r>
              <a:rPr dirty="0" err="1"/>
              <a:t>현상</a:t>
            </a:r>
            <a:r>
              <a:rPr dirty="0"/>
              <a:t> </a:t>
            </a:r>
            <a:r>
              <a:rPr dirty="0" err="1"/>
              <a:t>방지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밸런스</a:t>
            </a:r>
            <a:r>
              <a:rPr dirty="0"/>
              <a:t> </a:t>
            </a:r>
            <a:r>
              <a:rPr dirty="0" err="1"/>
              <a:t>유지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709160" y="3840480"/>
            <a:ext cx="388620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3950208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rPr dirty="0"/>
              <a:t>4. </a:t>
            </a:r>
            <a:r>
              <a:rPr dirty="0" err="1"/>
              <a:t>리더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&amp;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마이페이지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dirty="0" err="1"/>
              <a:t>원클릭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/</a:t>
            </a:r>
            <a:r>
              <a:rPr dirty="0" err="1"/>
              <a:t>반려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지원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추적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846320" y="4617720"/>
            <a:ext cx="3611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리더 대시보드에서 지원서 확인 후 원클릭 [수락] / [거절]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수락 시 정식 팀원 자동 등록 &amp; 정원 충족 시 자동 마감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• 지원자 마이페이지에서 심사 상태(검토중/승인/반려) 실시간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3. 시스템 설계 - (1) 시스템 구축 환경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88620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520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4AC6"/>
                </a:solidFill>
                <a:latin typeface="Malgun Gothic"/>
              </a:defRPr>
            </a:pPr>
            <a:r>
              <a:t>🎨 UX / UI 설계 &amp; 프로토타이핑 도구</a:t>
            </a:r>
          </a:p>
          <a:p>
            <a:pPr>
              <a:spcBef>
                <a:spcPts val="1200"/>
              </a:spcBef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• Figma (UI/UX 프로토타입)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Malgun Gothic"/>
              </a:defRPr>
            </a:pPr>
            <a:r>
              <a:t>   와이어프레임 및 고해상도 목업 100% 설계 완료</a:t>
            </a:r>
          </a:p>
          <a:p>
            <a:pPr>
              <a:spcBef>
                <a:spcPts val="1200"/>
              </a:spcBef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• Custom Atomic Design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Malgun Gothic"/>
              </a:defRPr>
            </a:pPr>
            <a:r>
              <a:t>   외부 무거운 라이브러리 대신 직접 구축한 가벼운 UI 토큰</a:t>
            </a:r>
          </a:p>
          <a:p>
            <a:pPr>
              <a:spcBef>
                <a:spcPts val="1200"/>
              </a:spcBef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• 반응형 웹 레이아웃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Malgun Gothic"/>
              </a:defRPr>
            </a:pPr>
            <a:r>
              <a:t>   모바일, 태블릿, 데스크톱 화면 최적화</a:t>
            </a:r>
          </a:p>
          <a:p>
            <a:pPr>
              <a:spcBef>
                <a:spcPts val="1200"/>
              </a:spcBef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• BFF 보안 게이트웨이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Malgun Gothic"/>
              </a:defRPr>
            </a:pPr>
            <a:r>
              <a:t>   Next.js Route Handler로 학교 포털 인증 트래픽 안전 격리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188720"/>
            <a:ext cx="388620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2040" y="1371600"/>
            <a:ext cx="3520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4061"/>
                </a:solidFill>
                <a:latin typeface="Malgun Gothic"/>
              </a:defRPr>
            </a:pPr>
            <a:r>
              <a:t>⚙️ 개발 기술 스택 (Tech Stack)</a:t>
            </a:r>
          </a:p>
          <a:p>
            <a:pPr>
              <a:spcBef>
                <a:spcPts val="1000"/>
              </a:spcBef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• Frontend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 - Next.js 16 (App Router), React 19, TypeScript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 - Tailwind CSS v4, Zustand Store</a:t>
            </a:r>
          </a:p>
          <a:p>
            <a:pPr>
              <a:spcBef>
                <a:spcPts val="1000"/>
              </a:spcBef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• Backend API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 - Java 17/21, Spring Boot 3.4, Spring Data JPA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 - Spring Security, Stateless JWT</a:t>
            </a:r>
          </a:p>
          <a:p>
            <a:pPr>
              <a:spcBef>
                <a:spcPts val="1000"/>
              </a:spcBef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• Database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 - PostgreSQL 16 on Neon.tech (Cloud Serverless)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 - SSL 암호화 연결, HikariCP</a:t>
            </a:r>
          </a:p>
          <a:p>
            <a:pPr>
              <a:spcBef>
                <a:spcPts val="1000"/>
              </a:spcBef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• 배포 &amp; 운영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 - Vercel Global Edge (웹 호스팅)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 - Oracle Cloud Free VM (백엔드 서버 24시간 가동)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3. 시스템 설계 - (2) UI/UX 디자인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56032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2286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4AC6"/>
                </a:solidFill>
                <a:latin typeface="Malgun Gothic"/>
              </a:defRPr>
            </a:pPr>
            <a:r>
              <a:t>🎨 컬러 &amp; 테마 토큰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숭실 블루 (Primary)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#004AC6 대표 메인 컬러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상태 컬러 (Status)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초록(모집중), 노랑(대기), 빨강(마감)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다크/라이트 모드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CSS 변수 기반 원클릭 즉시 전환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시각 피로 완화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야간 학습 시 눈이 편안한 대비 적용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56032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1371600"/>
            <a:ext cx="2286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4061"/>
                </a:solidFill>
                <a:latin typeface="Malgun Gothic"/>
              </a:defRPr>
            </a:pPr>
            <a:r>
              <a:t>🔤 서체 &amp; 스타일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서체 (Typography)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Pretendard / Malgun Gothic 적용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폰트 위계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H1(32px) ~ Body(14px) 체계화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모던 라운딩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rounded-xl (12px) 부드러운 곡률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호버 인터랙션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카드 마우스 오버 시 부드러운 그림자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188720"/>
            <a:ext cx="256032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371600"/>
            <a:ext cx="2286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46C0A"/>
                </a:solidFill>
                <a:latin typeface="Malgun Gothic"/>
              </a:defRPr>
            </a:pPr>
            <a:r>
              <a:t>🧩 공통 재사용 컴포넌트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Button &amp; Input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Primary, Outline, SearchInput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Badge &amp; Tag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상태 뱃지, 학과 및 기술스택 태그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Card &amp; Modal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GroupCard, Quick Apply 모달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RoleQuota &amp; Avatar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포지션 정원 바, 멤버 아바타 그룹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3.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- (3) </a:t>
            </a:r>
            <a:r>
              <a:rPr dirty="0" err="1"/>
              <a:t>로그인</a:t>
            </a:r>
            <a:r>
              <a:rPr dirty="0"/>
              <a:t> &amp; </a:t>
            </a:r>
            <a:r>
              <a:rPr dirty="0" err="1"/>
              <a:t>랜딩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 [</a:t>
            </a:r>
            <a:r>
              <a:rPr dirty="0" err="1"/>
              <a:t>피오아웅</a:t>
            </a:r>
            <a:r>
              <a:rPr dirty="0"/>
              <a:t>]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9274"/>
            <a:ext cx="8229600" cy="3200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931920" cy="5120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58889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4AC6"/>
                </a:solidFill>
                <a:latin typeface="Malgun Gothic"/>
              </a:defRPr>
            </a:pPr>
            <a:r>
              <a:rPr dirty="0"/>
              <a:t>📱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레이아웃</a:t>
            </a:r>
            <a:r>
              <a:rPr dirty="0"/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188720"/>
            <a:ext cx="388620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371600"/>
            <a:ext cx="3520440" cy="340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📋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 &amp;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기능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004AC6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팀원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피오아웅</a:t>
            </a:r>
            <a:r>
              <a:rPr dirty="0"/>
              <a:t> </a:t>
            </a:r>
            <a:endParaRPr lang="en-US"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lang="en-US" dirty="0"/>
              <a:t>• </a:t>
            </a:r>
            <a:r>
              <a:rPr lang="ko-KR" altLang="en-US" dirty="0"/>
              <a:t>개발 화면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u-SAINT SSO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모달</a:t>
            </a:r>
            <a:r>
              <a:rPr dirty="0"/>
              <a:t> &amp; </a:t>
            </a:r>
            <a:r>
              <a:rPr dirty="0" err="1"/>
              <a:t>메인</a:t>
            </a:r>
            <a:r>
              <a:rPr dirty="0"/>
              <a:t> </a:t>
            </a:r>
            <a:r>
              <a:rPr dirty="0" err="1"/>
              <a:t>랜딩</a:t>
            </a:r>
            <a:r>
              <a:rPr dirty="0"/>
              <a:t> </a:t>
            </a:r>
            <a:r>
              <a:rPr dirty="0" err="1"/>
              <a:t>페이지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SSO </a:t>
            </a:r>
            <a:r>
              <a:rPr dirty="0" err="1"/>
              <a:t>인증</a:t>
            </a:r>
            <a:r>
              <a:rPr dirty="0"/>
              <a:t> </a:t>
            </a:r>
            <a:r>
              <a:rPr dirty="0" err="1"/>
              <a:t>연동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학교</a:t>
            </a:r>
            <a:r>
              <a:rPr dirty="0"/>
              <a:t> </a:t>
            </a:r>
            <a:r>
              <a:rPr dirty="0" err="1"/>
              <a:t>포털</a:t>
            </a:r>
            <a:r>
              <a:rPr dirty="0"/>
              <a:t>(</a:t>
            </a:r>
            <a:r>
              <a:rPr dirty="0" err="1"/>
              <a:t>smartid.ssu.ac.kr</a:t>
            </a:r>
            <a:r>
              <a:rPr dirty="0"/>
              <a:t>)</a:t>
            </a:r>
            <a:r>
              <a:rPr dirty="0" err="1"/>
              <a:t>과</a:t>
            </a:r>
            <a:r>
              <a:rPr dirty="0"/>
              <a:t> </a:t>
            </a:r>
            <a:r>
              <a:rPr dirty="0" err="1"/>
              <a:t>연동하여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회원가입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학적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(</a:t>
            </a:r>
            <a:r>
              <a:rPr dirty="0" err="1"/>
              <a:t>학과</a:t>
            </a:r>
            <a:r>
              <a:rPr dirty="0"/>
              <a:t>/</a:t>
            </a:r>
            <a:r>
              <a:rPr dirty="0" err="1"/>
              <a:t>학년</a:t>
            </a:r>
            <a:r>
              <a:rPr dirty="0"/>
              <a:t>) </a:t>
            </a:r>
            <a:r>
              <a:rPr dirty="0" err="1"/>
              <a:t>가져오기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보안</a:t>
            </a:r>
            <a:r>
              <a:rPr dirty="0"/>
              <a:t> </a:t>
            </a:r>
            <a:r>
              <a:rPr dirty="0" err="1"/>
              <a:t>설계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포털</a:t>
            </a:r>
            <a:r>
              <a:rPr dirty="0"/>
              <a:t> </a:t>
            </a:r>
            <a:r>
              <a:rPr dirty="0" err="1"/>
              <a:t>비밀번호는</a:t>
            </a:r>
            <a:r>
              <a:rPr dirty="0"/>
              <a:t> </a:t>
            </a:r>
            <a:r>
              <a:rPr dirty="0" err="1"/>
              <a:t>서버에</a:t>
            </a:r>
            <a:r>
              <a:rPr dirty="0"/>
              <a:t> </a:t>
            </a:r>
            <a:r>
              <a:rPr dirty="0" err="1"/>
              <a:t>일절</a:t>
            </a:r>
            <a:r>
              <a:rPr dirty="0"/>
              <a:t> </a:t>
            </a:r>
            <a:r>
              <a:rPr dirty="0" err="1"/>
              <a:t>저장하지</a:t>
            </a:r>
            <a:r>
              <a:rPr dirty="0"/>
              <a:t> </a:t>
            </a:r>
            <a:r>
              <a:rPr dirty="0" err="1"/>
              <a:t>않으며</a:t>
            </a:r>
            <a:r>
              <a:rPr dirty="0"/>
              <a:t>, JWT </a:t>
            </a:r>
            <a:r>
              <a:rPr dirty="0" err="1"/>
              <a:t>토큰으로</a:t>
            </a:r>
            <a:r>
              <a:rPr dirty="0"/>
              <a:t> </a:t>
            </a:r>
            <a:r>
              <a:rPr dirty="0" err="1"/>
              <a:t>안전하게</a:t>
            </a:r>
            <a:r>
              <a:rPr dirty="0"/>
              <a:t>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유지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모달</a:t>
            </a:r>
            <a:r>
              <a:rPr dirty="0"/>
              <a:t> </a:t>
            </a:r>
            <a:r>
              <a:rPr dirty="0" err="1"/>
              <a:t>유도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비로그인</a:t>
            </a:r>
            <a:r>
              <a:rPr dirty="0"/>
              <a:t> </a:t>
            </a:r>
            <a:r>
              <a:rPr dirty="0" err="1"/>
              <a:t>상태로</a:t>
            </a:r>
            <a:r>
              <a:rPr dirty="0"/>
              <a:t> </a:t>
            </a:r>
            <a:r>
              <a:rPr dirty="0" err="1"/>
              <a:t>그룹</a:t>
            </a:r>
            <a:r>
              <a:rPr dirty="0"/>
              <a:t>/</a:t>
            </a:r>
            <a:r>
              <a:rPr dirty="0" err="1"/>
              <a:t>마이페이지</a:t>
            </a:r>
            <a:r>
              <a:rPr dirty="0"/>
              <a:t> </a:t>
            </a:r>
            <a:r>
              <a:rPr dirty="0" err="1"/>
              <a:t>접속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팝업을</a:t>
            </a:r>
            <a:r>
              <a:rPr dirty="0"/>
              <a:t> </a:t>
            </a:r>
            <a:r>
              <a:rPr dirty="0" err="1"/>
              <a:t>띄우고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복귀</a:t>
            </a:r>
            <a:endParaRPr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6EE5AC-3ACE-1D68-1306-6FF8B5188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76780"/>
            <a:ext cx="3791201" cy="42199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3.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- (4) </a:t>
            </a:r>
            <a:r>
              <a:rPr dirty="0" err="1"/>
              <a:t>그룹</a:t>
            </a:r>
            <a:r>
              <a:rPr dirty="0"/>
              <a:t> </a:t>
            </a:r>
            <a:r>
              <a:rPr dirty="0" err="1"/>
              <a:t>탐색</a:t>
            </a:r>
            <a:r>
              <a:rPr dirty="0"/>
              <a:t> &amp; </a:t>
            </a:r>
            <a:r>
              <a:rPr dirty="0" err="1"/>
              <a:t>필터링</a:t>
            </a:r>
            <a:r>
              <a:rPr dirty="0"/>
              <a:t> [</a:t>
            </a:r>
            <a:r>
              <a:rPr dirty="0" err="1"/>
              <a:t>트란트룽하우</a:t>
            </a:r>
            <a:r>
              <a:rPr dirty="0"/>
              <a:t>]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1263"/>
            <a:ext cx="8229600" cy="3200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931920" cy="5120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3440" y="1333282"/>
            <a:ext cx="158889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4AC6"/>
                </a:solidFill>
                <a:latin typeface="Malgun Gothic"/>
              </a:defRPr>
            </a:pPr>
            <a:r>
              <a:rPr dirty="0"/>
              <a:t>📱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레이아웃</a:t>
            </a:r>
            <a:r>
              <a:rPr dirty="0"/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188720"/>
            <a:ext cx="388620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371600"/>
            <a:ext cx="3520440" cy="3577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📋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 &amp;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기능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004AC6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팀원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트란트룽하우</a:t>
            </a:r>
            <a:endParaRPr lang="en-US"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lang="en-US" dirty="0"/>
              <a:t>• </a:t>
            </a:r>
            <a:r>
              <a:rPr lang="ko-KR" altLang="en-US" dirty="0"/>
              <a:t>개발 화면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lang="ko-KR" altLang="en-US" dirty="0"/>
              <a:t>  </a:t>
            </a:r>
            <a:r>
              <a:rPr lang="en-US" dirty="0"/>
              <a:t>Groups </a:t>
            </a:r>
            <a:r>
              <a:rPr lang="ko-KR" altLang="en-US" dirty="0"/>
              <a:t>목록 페이지 </a:t>
            </a:r>
            <a:r>
              <a:rPr lang="en-US" altLang="ko-KR" dirty="0"/>
              <a:t>&amp; </a:t>
            </a:r>
            <a:r>
              <a:rPr lang="ko-KR" altLang="en-US" dirty="0"/>
              <a:t>빠른 지원 </a:t>
            </a:r>
            <a:r>
              <a:rPr lang="ko-KR" altLang="en-US" dirty="0" err="1"/>
              <a:t>모달</a:t>
            </a:r>
            <a:endParaRPr lang="ko-KR" altLang="en-US"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3단계 </a:t>
            </a:r>
            <a:r>
              <a:rPr dirty="0" err="1"/>
              <a:t>학적</a:t>
            </a:r>
            <a:r>
              <a:rPr dirty="0"/>
              <a:t> </a:t>
            </a:r>
            <a:r>
              <a:rPr dirty="0" err="1"/>
              <a:t>필터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단과대학</a:t>
            </a:r>
            <a:r>
              <a:rPr dirty="0"/>
              <a:t>(</a:t>
            </a:r>
            <a:r>
              <a:rPr dirty="0" err="1"/>
              <a:t>IT대학</a:t>
            </a:r>
            <a:r>
              <a:rPr dirty="0"/>
              <a:t>) ➔ </a:t>
            </a:r>
            <a:r>
              <a:rPr dirty="0" err="1"/>
              <a:t>학부</a:t>
            </a:r>
            <a:r>
              <a:rPr dirty="0"/>
              <a:t>(</a:t>
            </a:r>
            <a:r>
              <a:rPr dirty="0" err="1"/>
              <a:t>소프트웨어</a:t>
            </a:r>
            <a:r>
              <a:rPr dirty="0"/>
              <a:t>) ➔ </a:t>
            </a:r>
            <a:r>
              <a:rPr dirty="0" err="1"/>
              <a:t>개설년도</a:t>
            </a:r>
            <a:r>
              <a:rPr dirty="0"/>
              <a:t> </a:t>
            </a:r>
            <a:r>
              <a:rPr dirty="0" err="1"/>
              <a:t>드롭다운으로</a:t>
            </a:r>
            <a:r>
              <a:rPr dirty="0"/>
              <a:t> </a:t>
            </a:r>
            <a:r>
              <a:rPr dirty="0" err="1"/>
              <a:t>원하는</a:t>
            </a:r>
            <a:r>
              <a:rPr dirty="0"/>
              <a:t> </a:t>
            </a:r>
            <a:r>
              <a:rPr dirty="0" err="1"/>
              <a:t>스터디</a:t>
            </a:r>
            <a:r>
              <a:rPr dirty="0"/>
              <a:t>/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정확하게</a:t>
            </a:r>
            <a:r>
              <a:rPr dirty="0"/>
              <a:t> </a:t>
            </a:r>
            <a:r>
              <a:rPr dirty="0" err="1"/>
              <a:t>필터링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키워드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검색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과목코드</a:t>
            </a:r>
            <a:r>
              <a:rPr dirty="0"/>
              <a:t>(CS490), React/Spring </a:t>
            </a:r>
            <a:r>
              <a:rPr dirty="0" err="1"/>
              <a:t>등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기술</a:t>
            </a:r>
            <a:r>
              <a:rPr dirty="0"/>
              <a:t>,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검색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카드</a:t>
            </a:r>
            <a:r>
              <a:rPr dirty="0"/>
              <a:t> </a:t>
            </a:r>
            <a:r>
              <a:rPr dirty="0" err="1"/>
              <a:t>그리드</a:t>
            </a:r>
            <a:r>
              <a:rPr dirty="0"/>
              <a:t> &amp; </a:t>
            </a:r>
            <a:r>
              <a:rPr dirty="0" err="1"/>
              <a:t>지원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페이지당</a:t>
            </a:r>
            <a:r>
              <a:rPr dirty="0"/>
              <a:t> 6개씩 </a:t>
            </a:r>
            <a:r>
              <a:rPr dirty="0" err="1"/>
              <a:t>카드</a:t>
            </a:r>
            <a:r>
              <a:rPr dirty="0"/>
              <a:t> </a:t>
            </a:r>
            <a:r>
              <a:rPr dirty="0" err="1"/>
              <a:t>형태로</a:t>
            </a:r>
            <a:r>
              <a:rPr dirty="0"/>
              <a:t> </a:t>
            </a:r>
            <a:r>
              <a:rPr dirty="0" err="1"/>
              <a:t>표시하고</a:t>
            </a:r>
            <a:r>
              <a:rPr dirty="0"/>
              <a:t>, [</a:t>
            </a: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지원</a:t>
            </a:r>
            <a:r>
              <a:rPr dirty="0"/>
              <a:t>] </a:t>
            </a:r>
            <a:r>
              <a:rPr dirty="0" err="1"/>
              <a:t>버튼</a:t>
            </a:r>
            <a:r>
              <a:rPr dirty="0"/>
              <a:t> </a:t>
            </a:r>
            <a:r>
              <a:rPr dirty="0" err="1"/>
              <a:t>클릭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모달에서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지원서</a:t>
            </a:r>
            <a:r>
              <a:rPr dirty="0"/>
              <a:t> </a:t>
            </a:r>
            <a:r>
              <a:rPr dirty="0" err="1"/>
              <a:t>제출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7ACA4F-46A2-B4E8-7340-3EE83B3A0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92" y="1625670"/>
            <a:ext cx="3383615" cy="44919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2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3. 시스템 설계 - (5) 신규 그룹 개설 [황뚱백]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931920" cy="5120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4AC6"/>
                </a:solidFill>
                <a:latin typeface="Malgun Gothic"/>
              </a:defRPr>
            </a:pPr>
            <a:r>
              <a:t>📱 화면 레이아웃 (Figma)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50">
                <a:solidFill>
                  <a:srgbClr val="E46C0A"/>
                </a:solidFill>
                <a:latin typeface="Malgun Gothic"/>
              </a:defRPr>
            </a:pPr>
            <a:r>
              <a:t>✍️ 신규 스터디 / 프로젝트 모집 등록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─────────────────────────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[제목] 웹프로그래밍 캡스톤 프로젝트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[과목] CS490 (웹프로그래밍)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[소개] 숭실대 학우 전용 매칭 플랫폼...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─────────────────────────</a:t>
            </a:r>
          </a:p>
          <a:p>
            <a:pPr>
              <a:spcBef>
                <a:spcPts val="300"/>
              </a:spcBef>
              <a:defRPr sz="1050">
                <a:solidFill>
                  <a:srgbClr val="E46C0A"/>
                </a:solidFill>
                <a:latin typeface="Malgun Gothic"/>
              </a:defRPr>
            </a:pPr>
            <a:r>
              <a:t>🎯 포지션별 쿼터(Role Quota) 설정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Frontend Developer : 2명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Backend Developer  : 2명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UI/UX Designer     : 1명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─────────────────────────</a:t>
            </a:r>
          </a:p>
          <a:p>
            <a:pPr>
              <a:spcBef>
                <a:spcPts val="300"/>
              </a:spcBef>
              <a:defRPr sz="1050">
                <a:solidFill>
                  <a:srgbClr val="E46C0A"/>
                </a:solidFill>
                <a:latin typeface="Malgun Gothic"/>
              </a:defRPr>
            </a:pPr>
            <a:r>
              <a:t>[ 🚀 모집 공고 등록하기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188720"/>
            <a:ext cx="388620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371600"/>
            <a:ext cx="3520440" cy="340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📋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 &amp;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기능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004AC6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팀원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황뚱백</a:t>
            </a:r>
            <a:r>
              <a:rPr dirty="0"/>
              <a:t> </a:t>
            </a:r>
            <a:endParaRPr lang="en-US"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lang="en-US" dirty="0"/>
              <a:t>• </a:t>
            </a:r>
            <a:r>
              <a:rPr lang="ko-KR" altLang="en-US" dirty="0"/>
              <a:t>개발 화면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Create Group (</a:t>
            </a:r>
            <a:r>
              <a:rPr dirty="0" err="1"/>
              <a:t>스터디</a:t>
            </a:r>
            <a:r>
              <a:rPr dirty="0"/>
              <a:t>/</a:t>
            </a:r>
            <a:r>
              <a:rPr dirty="0" err="1"/>
              <a:t>팀원</a:t>
            </a:r>
            <a:r>
              <a:rPr dirty="0"/>
              <a:t> </a:t>
            </a:r>
            <a:r>
              <a:rPr dirty="0" err="1"/>
              <a:t>모집</a:t>
            </a:r>
            <a:r>
              <a:rPr dirty="0"/>
              <a:t> </a:t>
            </a:r>
            <a:r>
              <a:rPr dirty="0" err="1"/>
              <a:t>공고</a:t>
            </a:r>
            <a:r>
              <a:rPr dirty="0"/>
              <a:t> </a:t>
            </a:r>
            <a:r>
              <a:rPr dirty="0" err="1"/>
              <a:t>작성</a:t>
            </a:r>
            <a:r>
              <a:rPr dirty="0"/>
              <a:t>)</a:t>
            </a:r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학적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연결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로그인한</a:t>
            </a:r>
            <a:r>
              <a:rPr dirty="0"/>
              <a:t> </a:t>
            </a:r>
            <a:r>
              <a:rPr dirty="0" err="1"/>
              <a:t>사용자의</a:t>
            </a:r>
            <a:r>
              <a:rPr dirty="0"/>
              <a:t> </a:t>
            </a:r>
            <a:r>
              <a:rPr dirty="0" err="1"/>
              <a:t>소속</a:t>
            </a:r>
            <a:r>
              <a:rPr dirty="0"/>
              <a:t>(</a:t>
            </a:r>
            <a:r>
              <a:rPr dirty="0" err="1"/>
              <a:t>IT대학</a:t>
            </a:r>
            <a:r>
              <a:rPr dirty="0"/>
              <a:t>, </a:t>
            </a:r>
            <a:r>
              <a:rPr dirty="0" err="1"/>
              <a:t>소프트웨어학부</a:t>
            </a:r>
            <a:r>
              <a:rPr dirty="0"/>
              <a:t>)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공고에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반영되어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부담</a:t>
            </a:r>
            <a:r>
              <a:rPr dirty="0"/>
              <a:t> </a:t>
            </a:r>
            <a:r>
              <a:rPr dirty="0" err="1"/>
              <a:t>최소화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역할별</a:t>
            </a:r>
            <a:r>
              <a:rPr dirty="0"/>
              <a:t> </a:t>
            </a:r>
            <a:r>
              <a:rPr dirty="0" err="1"/>
              <a:t>쿼터</a:t>
            </a:r>
            <a:r>
              <a:rPr dirty="0"/>
              <a:t> </a:t>
            </a:r>
            <a:r>
              <a:rPr dirty="0" err="1"/>
              <a:t>빌더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FE, BE, AI, </a:t>
            </a:r>
            <a:r>
              <a:rPr dirty="0" err="1"/>
              <a:t>디자이너</a:t>
            </a:r>
            <a:r>
              <a:rPr dirty="0"/>
              <a:t> </a:t>
            </a:r>
            <a:r>
              <a:rPr dirty="0" err="1"/>
              <a:t>등</a:t>
            </a:r>
            <a:r>
              <a:rPr dirty="0"/>
              <a:t> </a:t>
            </a:r>
            <a:r>
              <a:rPr dirty="0" err="1"/>
              <a:t>원하는</a:t>
            </a:r>
            <a:r>
              <a:rPr dirty="0"/>
              <a:t> </a:t>
            </a:r>
            <a:r>
              <a:rPr dirty="0" err="1"/>
              <a:t>포지션을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추가하고</a:t>
            </a:r>
            <a:r>
              <a:rPr dirty="0"/>
              <a:t> </a:t>
            </a:r>
            <a:r>
              <a:rPr dirty="0" err="1"/>
              <a:t>각각의</a:t>
            </a:r>
            <a:r>
              <a:rPr dirty="0"/>
              <a:t> </a:t>
            </a:r>
            <a:r>
              <a:rPr dirty="0" err="1"/>
              <a:t>모집</a:t>
            </a:r>
            <a:r>
              <a:rPr dirty="0"/>
              <a:t> </a:t>
            </a:r>
            <a:r>
              <a:rPr dirty="0" err="1"/>
              <a:t>인원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유효성</a:t>
            </a:r>
            <a:r>
              <a:rPr dirty="0"/>
              <a:t> </a:t>
            </a:r>
            <a:r>
              <a:rPr dirty="0" err="1"/>
              <a:t>검사</a:t>
            </a:r>
            <a:r>
              <a:rPr dirty="0"/>
              <a:t> &amp; </a:t>
            </a:r>
            <a:r>
              <a:rPr dirty="0" err="1"/>
              <a:t>권한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필수</a:t>
            </a:r>
            <a:r>
              <a:rPr dirty="0"/>
              <a:t> </a:t>
            </a:r>
            <a:r>
              <a:rPr dirty="0" err="1"/>
              <a:t>항목</a:t>
            </a:r>
            <a:r>
              <a:rPr dirty="0"/>
              <a:t>(</a:t>
            </a:r>
            <a:r>
              <a:rPr dirty="0" err="1"/>
              <a:t>제목</a:t>
            </a:r>
            <a:r>
              <a:rPr dirty="0"/>
              <a:t>, </a:t>
            </a:r>
            <a:r>
              <a:rPr dirty="0" err="1"/>
              <a:t>인원수</a:t>
            </a:r>
            <a:r>
              <a:rPr dirty="0"/>
              <a:t>, </a:t>
            </a:r>
            <a:r>
              <a:rPr dirty="0" err="1"/>
              <a:t>마감일</a:t>
            </a:r>
            <a:r>
              <a:rPr dirty="0"/>
              <a:t>) </a:t>
            </a:r>
            <a:r>
              <a:rPr dirty="0" err="1"/>
              <a:t>체크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작성자는</a:t>
            </a:r>
            <a:r>
              <a:rPr dirty="0"/>
              <a:t>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팀의</a:t>
            </a:r>
            <a:r>
              <a:rPr dirty="0"/>
              <a:t> </a:t>
            </a:r>
            <a:r>
              <a:rPr dirty="0" err="1"/>
              <a:t>LEADER로</a:t>
            </a:r>
            <a:r>
              <a:rPr dirty="0"/>
              <a:t> </a:t>
            </a:r>
            <a:r>
              <a:rPr dirty="0" err="1"/>
              <a:t>지정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3.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- (6) </a:t>
            </a:r>
            <a:r>
              <a:rPr dirty="0" err="1"/>
              <a:t>그룹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워크스페이스</a:t>
            </a:r>
            <a:r>
              <a:rPr dirty="0"/>
              <a:t> [</a:t>
            </a:r>
            <a:r>
              <a:rPr dirty="0" err="1"/>
              <a:t>응오후인트</a:t>
            </a:r>
            <a:r>
              <a:rPr dirty="0"/>
              <a:t>]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5276"/>
            <a:ext cx="8229600" cy="3200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931920" cy="5120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4AC6"/>
                </a:solidFill>
                <a:latin typeface="Malgun Gothic"/>
              </a:defRPr>
            </a:pPr>
            <a:r>
              <a:t>📱 화면 레이아웃 (Figma)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⚙️ 리더 전용 지원자 관리 대시보드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─────────────────────────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[내 프로젝트] Web Programming Capstone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현재 모집 현황: 2/4명 (모집중)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─────────────────────────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📬 대기 중인 지원서 (2건)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┌───────────────────────┐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│ 지원자: 이영희 (소프트 3학년)   │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│ 희망 역할: Frontend Developer │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│ [ ✅ 수락 (Accept) ] [ ❌ 거절 ]│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└───────────────────────┘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┌───────────────────────┐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│ 지원자: 박철수 (컴퓨터 2학년)   │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│ [ ✅ 수락 (Accept) ] [ ❌ 거절 ]│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└───────────────────────┘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188720"/>
            <a:ext cx="388620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371600"/>
            <a:ext cx="3520440" cy="340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📋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 &amp;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기능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004AC6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팀원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응오후인트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화면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Manage (</a:t>
            </a:r>
            <a:r>
              <a:rPr dirty="0" err="1"/>
              <a:t>그룹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지원자</a:t>
            </a:r>
            <a:r>
              <a:rPr dirty="0"/>
              <a:t>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)</a:t>
            </a:r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리더</a:t>
            </a:r>
            <a:r>
              <a:rPr dirty="0"/>
              <a:t> </a:t>
            </a:r>
            <a:r>
              <a:rPr dirty="0" err="1"/>
              <a:t>대시보드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내가</a:t>
            </a:r>
            <a:r>
              <a:rPr dirty="0"/>
              <a:t> </a:t>
            </a:r>
            <a:r>
              <a:rPr dirty="0" err="1"/>
              <a:t>개설한</a:t>
            </a:r>
            <a:r>
              <a:rPr dirty="0"/>
              <a:t> </a:t>
            </a:r>
            <a:r>
              <a:rPr dirty="0" err="1"/>
              <a:t>프로젝트의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팀원</a:t>
            </a:r>
            <a:r>
              <a:rPr dirty="0"/>
              <a:t> </a:t>
            </a:r>
            <a:r>
              <a:rPr dirty="0" err="1"/>
              <a:t>수와</a:t>
            </a:r>
            <a:r>
              <a:rPr dirty="0"/>
              <a:t> </a:t>
            </a:r>
            <a:r>
              <a:rPr dirty="0" err="1"/>
              <a:t>모집</a:t>
            </a:r>
            <a:r>
              <a:rPr dirty="0"/>
              <a:t> </a:t>
            </a:r>
            <a:r>
              <a:rPr dirty="0" err="1"/>
              <a:t>진행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</a:t>
            </a:r>
            <a:r>
              <a:rPr dirty="0" err="1"/>
              <a:t>한눈에</a:t>
            </a:r>
            <a:r>
              <a:rPr dirty="0"/>
              <a:t> </a:t>
            </a:r>
            <a:r>
              <a:rPr dirty="0" err="1"/>
              <a:t>파악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지원자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 </a:t>
            </a:r>
            <a:r>
              <a:rPr dirty="0" err="1"/>
              <a:t>카드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지원자의</a:t>
            </a:r>
            <a:r>
              <a:rPr dirty="0"/>
              <a:t> u-SAINT </a:t>
            </a:r>
            <a:r>
              <a:rPr dirty="0" err="1"/>
              <a:t>실명</a:t>
            </a:r>
            <a:r>
              <a:rPr dirty="0"/>
              <a:t>, </a:t>
            </a:r>
            <a:r>
              <a:rPr dirty="0" err="1"/>
              <a:t>학과</a:t>
            </a:r>
            <a:r>
              <a:rPr dirty="0"/>
              <a:t>, </a:t>
            </a:r>
            <a:r>
              <a:rPr dirty="0" err="1"/>
              <a:t>학년</a:t>
            </a:r>
            <a:r>
              <a:rPr dirty="0"/>
              <a:t>, </a:t>
            </a:r>
            <a:r>
              <a:rPr dirty="0" err="1"/>
              <a:t>희망</a:t>
            </a:r>
            <a:r>
              <a:rPr dirty="0"/>
              <a:t> </a:t>
            </a:r>
            <a:r>
              <a:rPr dirty="0" err="1"/>
              <a:t>포지션</a:t>
            </a:r>
            <a:r>
              <a:rPr dirty="0"/>
              <a:t>, </a:t>
            </a:r>
            <a:r>
              <a:rPr dirty="0" err="1"/>
              <a:t>지원</a:t>
            </a:r>
            <a:r>
              <a:rPr dirty="0"/>
              <a:t> </a:t>
            </a:r>
            <a:r>
              <a:rPr dirty="0" err="1"/>
              <a:t>메시지를</a:t>
            </a:r>
            <a:r>
              <a:rPr dirty="0"/>
              <a:t> </a:t>
            </a:r>
            <a:r>
              <a:rPr dirty="0" err="1"/>
              <a:t>카드로</a:t>
            </a:r>
            <a:r>
              <a:rPr dirty="0"/>
              <a:t> </a:t>
            </a:r>
            <a:r>
              <a:rPr dirty="0" err="1"/>
              <a:t>직관적</a:t>
            </a:r>
            <a:r>
              <a:rPr dirty="0"/>
              <a:t> </a:t>
            </a:r>
            <a:r>
              <a:rPr dirty="0" err="1"/>
              <a:t>제공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원클릭</a:t>
            </a:r>
            <a:r>
              <a:rPr dirty="0"/>
              <a:t> </a:t>
            </a:r>
            <a:r>
              <a:rPr dirty="0" err="1"/>
              <a:t>수락</a:t>
            </a:r>
            <a:r>
              <a:rPr dirty="0"/>
              <a:t>/</a:t>
            </a:r>
            <a:r>
              <a:rPr dirty="0" err="1"/>
              <a:t>거절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[</a:t>
            </a:r>
            <a:r>
              <a:rPr dirty="0" err="1"/>
              <a:t>수락</a:t>
            </a:r>
            <a:r>
              <a:rPr dirty="0"/>
              <a:t>] </a:t>
            </a:r>
            <a:r>
              <a:rPr dirty="0" err="1"/>
              <a:t>클릭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정식</a:t>
            </a:r>
            <a:r>
              <a:rPr dirty="0"/>
              <a:t> </a:t>
            </a:r>
            <a:r>
              <a:rPr dirty="0" err="1"/>
              <a:t>팀원으로</a:t>
            </a:r>
            <a:r>
              <a:rPr dirty="0"/>
              <a:t> </a:t>
            </a:r>
            <a:r>
              <a:rPr dirty="0" err="1"/>
              <a:t>등록되며</a:t>
            </a:r>
            <a:r>
              <a:rPr dirty="0"/>
              <a:t>, </a:t>
            </a:r>
            <a:r>
              <a:rPr dirty="0" err="1"/>
              <a:t>정원이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차면</a:t>
            </a:r>
            <a:r>
              <a:rPr dirty="0"/>
              <a:t> </a:t>
            </a:r>
            <a:r>
              <a:rPr dirty="0" err="1"/>
              <a:t>공고가</a:t>
            </a:r>
            <a:r>
              <a:rPr dirty="0"/>
              <a:t>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모집</a:t>
            </a:r>
            <a:r>
              <a:rPr dirty="0"/>
              <a:t> </a:t>
            </a:r>
            <a:r>
              <a:rPr dirty="0" err="1"/>
              <a:t>마감</a:t>
            </a:r>
            <a:r>
              <a:rPr dirty="0"/>
              <a:t> </a:t>
            </a:r>
            <a:r>
              <a:rPr dirty="0" err="1"/>
              <a:t>처리됨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3. 시스템 설계 - (7) 마이페이지 [응웬치롱]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931920" cy="5120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4AC6"/>
                </a:solidFill>
                <a:latin typeface="Malgun Gothic"/>
              </a:defRPr>
            </a:pPr>
            <a:r>
              <a:t>📱 화면 레이아웃 (Figma)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👤 학생 프로필 (u-SAINT 동기화)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─────────────────────────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이름: 김진호 (20211234) | 학년: 3학년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소속: IT대학 · 소프트웨어학부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스킬: React, Next.js, Spring Boot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─────────────────────────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[참여 중인 그룹 (2)] | [지원 내역 (3)]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Web Programming  [활동중]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AI 융합 캡스톤     [활동중]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─────────────────────────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📋 내 지원 현황: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Spring Study    [ 🟡 검토중 ]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algun Gothic"/>
              </a:defRPr>
            </a:pPr>
            <a:r>
              <a:t>• Cloud Hackathon [ 🟢 승인됨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188720"/>
            <a:ext cx="388620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371600"/>
            <a:ext cx="3520440" cy="340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📋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 &amp;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기능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004AC6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담당</a:t>
            </a:r>
            <a:r>
              <a:rPr dirty="0"/>
              <a:t> </a:t>
            </a:r>
            <a:r>
              <a:rPr dirty="0" err="1"/>
              <a:t>팀원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응웬치롱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화면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My Page (</a:t>
            </a:r>
            <a:r>
              <a:rPr dirty="0" err="1"/>
              <a:t>학생</a:t>
            </a:r>
            <a:r>
              <a:rPr dirty="0"/>
              <a:t> </a:t>
            </a:r>
            <a:r>
              <a:rPr dirty="0" err="1"/>
              <a:t>개인</a:t>
            </a:r>
            <a:r>
              <a:rPr dirty="0"/>
              <a:t> </a:t>
            </a:r>
            <a:r>
              <a:rPr dirty="0" err="1"/>
              <a:t>프로필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활동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)</a:t>
            </a:r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학적</a:t>
            </a:r>
            <a:r>
              <a:rPr dirty="0"/>
              <a:t> </a:t>
            </a:r>
            <a:r>
              <a:rPr dirty="0" err="1"/>
              <a:t>프로필</a:t>
            </a:r>
            <a:r>
              <a:rPr dirty="0"/>
              <a:t> </a:t>
            </a:r>
            <a:r>
              <a:rPr dirty="0" err="1"/>
              <a:t>카드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u-SAINT </a:t>
            </a:r>
            <a:r>
              <a:rPr dirty="0" err="1"/>
              <a:t>연동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(</a:t>
            </a:r>
            <a:r>
              <a:rPr dirty="0" err="1"/>
              <a:t>이름</a:t>
            </a:r>
            <a:r>
              <a:rPr dirty="0"/>
              <a:t>, </a:t>
            </a:r>
            <a:r>
              <a:rPr dirty="0" err="1"/>
              <a:t>학번</a:t>
            </a:r>
            <a:r>
              <a:rPr dirty="0"/>
              <a:t>,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단과대</a:t>
            </a:r>
            <a:r>
              <a:rPr dirty="0"/>
              <a:t>/</a:t>
            </a:r>
            <a:r>
              <a:rPr dirty="0" err="1"/>
              <a:t>학부</a:t>
            </a:r>
            <a:r>
              <a:rPr dirty="0"/>
              <a:t>, </a:t>
            </a:r>
            <a:r>
              <a:rPr dirty="0" err="1"/>
              <a:t>학년</a:t>
            </a:r>
            <a:r>
              <a:rPr dirty="0"/>
              <a:t>)</a:t>
            </a:r>
            <a:r>
              <a:rPr dirty="0" err="1"/>
              <a:t>와</a:t>
            </a:r>
            <a:r>
              <a:rPr dirty="0"/>
              <a:t> </a:t>
            </a:r>
            <a:r>
              <a:rPr dirty="0" err="1"/>
              <a:t>보유</a:t>
            </a:r>
            <a:r>
              <a:rPr dirty="0"/>
              <a:t>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스택</a:t>
            </a:r>
            <a:r>
              <a:rPr dirty="0"/>
              <a:t> </a:t>
            </a:r>
            <a:r>
              <a:rPr dirty="0" err="1"/>
              <a:t>뱃지</a:t>
            </a:r>
            <a:r>
              <a:rPr dirty="0"/>
              <a:t> </a:t>
            </a:r>
            <a:r>
              <a:rPr dirty="0" err="1"/>
              <a:t>표시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참여</a:t>
            </a:r>
            <a:r>
              <a:rPr dirty="0"/>
              <a:t> </a:t>
            </a:r>
            <a:r>
              <a:rPr dirty="0" err="1"/>
              <a:t>그룹</a:t>
            </a:r>
            <a:r>
              <a:rPr dirty="0"/>
              <a:t> </a:t>
            </a:r>
            <a:r>
              <a:rPr dirty="0" err="1"/>
              <a:t>목록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내가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속해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프로젝트</a:t>
            </a:r>
            <a:r>
              <a:rPr dirty="0"/>
              <a:t>/</a:t>
            </a:r>
            <a:r>
              <a:rPr dirty="0" err="1"/>
              <a:t>스터디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팀원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한눈에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spcBef>
                <a:spcPts val="1000"/>
              </a:spcBef>
              <a:defRPr sz="125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지원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추적</a:t>
            </a:r>
            <a:endParaRPr dirty="0"/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내가</a:t>
            </a:r>
            <a:r>
              <a:rPr dirty="0"/>
              <a:t> </a:t>
            </a:r>
            <a:r>
              <a:rPr dirty="0" err="1"/>
              <a:t>지원한</a:t>
            </a:r>
            <a:r>
              <a:rPr dirty="0"/>
              <a:t> </a:t>
            </a:r>
            <a:r>
              <a:rPr dirty="0" err="1"/>
              <a:t>그룹의</a:t>
            </a:r>
            <a:r>
              <a:rPr dirty="0"/>
              <a:t>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[</a:t>
            </a:r>
            <a:r>
              <a:rPr dirty="0" err="1"/>
              <a:t>검토중</a:t>
            </a:r>
            <a:r>
              <a:rPr dirty="0"/>
              <a:t> (🟡)], [</a:t>
            </a:r>
            <a:r>
              <a:rPr dirty="0" err="1"/>
              <a:t>승인됨</a:t>
            </a:r>
            <a:r>
              <a:rPr dirty="0"/>
              <a:t> (🟢)], [</a:t>
            </a:r>
            <a:r>
              <a:rPr dirty="0" err="1"/>
              <a:t>반려됨</a:t>
            </a:r>
            <a:r>
              <a:rPr dirty="0"/>
              <a:t> (🔴)] </a:t>
            </a:r>
            <a:r>
              <a:rPr dirty="0" err="1"/>
              <a:t>뱃지로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파악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3. 시스템 설계 - (8) 데이터베이스 설계 (ERD)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8229600" cy="32004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9202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280160"/>
            <a:ext cx="17739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AC6"/>
                </a:solidFill>
                <a:latin typeface="Malgun Gothic"/>
              </a:defRPr>
            </a:pPr>
            <a:r>
              <a:t>users (학생 정보)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77393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id (PK, BIGINT)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student_id (UNIQUE)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name, email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department, faculty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academic_year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188720"/>
            <a:ext cx="19202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33472" y="1280160"/>
            <a:ext cx="17739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4061"/>
                </a:solidFill>
                <a:latin typeface="Malgun Gothic"/>
              </a:defRPr>
            </a:pPr>
            <a:r>
              <a:t>study_groups (모집 그룹)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1691640"/>
            <a:ext cx="177393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id (PK, BIGINT)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leader_id (FK -&gt; users)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title, description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college, department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post_year, max_members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19202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3931920"/>
            <a:ext cx="17739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46C0A"/>
                </a:solidFill>
                <a:latin typeface="Malgun Gothic"/>
              </a:defRPr>
            </a:pPr>
            <a:r>
              <a:t>applications (지원서)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343400"/>
            <a:ext cx="177393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id (PK, BIGINT)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group_id (FK -&gt; study_groups)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applicant_id (FK -&gt; users)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statement (지원 동기)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status (PENDING, ACCEPTED)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840480"/>
            <a:ext cx="19202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33472" y="3931920"/>
            <a:ext cx="17739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Malgun Gothic"/>
              </a:defRPr>
            </a:pPr>
            <a:r>
              <a:rPr dirty="0" err="1"/>
              <a:t>group_members</a:t>
            </a:r>
            <a:r>
              <a:rPr dirty="0"/>
              <a:t> (</a:t>
            </a:r>
            <a:r>
              <a:rPr dirty="0" err="1"/>
              <a:t>팀원</a:t>
            </a:r>
            <a:r>
              <a:rPr dirty="0"/>
              <a:t> </a:t>
            </a:r>
            <a:r>
              <a:rPr dirty="0" err="1"/>
              <a:t>매핑</a:t>
            </a:r>
            <a:r>
              <a:rPr dirty="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4343400"/>
            <a:ext cx="177393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group_id</a:t>
            </a:r>
            <a:r>
              <a:rPr dirty="0"/>
              <a:t> (PK, FK)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user_id</a:t>
            </a:r>
            <a:r>
              <a:rPr dirty="0"/>
              <a:t>  (PK, FK)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role (LEADER / MEMBER)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joined_at</a:t>
            </a:r>
            <a:r>
              <a:rPr dirty="0"/>
              <a:t> (</a:t>
            </a:r>
            <a:r>
              <a:rPr dirty="0" err="1"/>
              <a:t>가입일시</a:t>
            </a:r>
            <a:r>
              <a:rPr dirty="0"/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188720"/>
            <a:ext cx="388620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1371600"/>
            <a:ext cx="3520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algun Gothic"/>
              </a:defRPr>
            </a:pPr>
            <a:r>
              <a:t>🛡️ DB 무결성 및 성능 최적화 포인트</a:t>
            </a:r>
          </a:p>
          <a:p>
            <a:pPr>
              <a:spcBef>
                <a:spcPts val="1000"/>
              </a:spcBef>
              <a:defRPr sz="1250" b="1">
                <a:solidFill>
                  <a:srgbClr val="004AC6"/>
                </a:solidFill>
                <a:latin typeface="Malgun Gothic"/>
              </a:defRPr>
            </a:pPr>
            <a:r>
              <a:t>• 중복 지원 차단 (Unique)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applications 테이블에 (group_id, applicant_id) 복합 유니크 제약으로 중복 지원 원천 방지</a:t>
            </a:r>
          </a:p>
          <a:p>
            <a:pPr>
              <a:spcBef>
                <a:spcPts val="1000"/>
              </a:spcBef>
              <a:defRPr sz="1250" b="1">
                <a:solidFill>
                  <a:srgbClr val="004AC6"/>
                </a:solidFill>
                <a:latin typeface="Malgun Gothic"/>
              </a:defRPr>
            </a:pPr>
            <a:r>
              <a:t>• 초고속 3단계 검색 (Index)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study_groups 테이블의 단과대, 학과, 연도 컬럼에 B-Tree 인덱스를 설정하여 대규모 공고도 즉시 조회</a:t>
            </a:r>
          </a:p>
          <a:p>
            <a:pPr>
              <a:spcBef>
                <a:spcPts val="1000"/>
              </a:spcBef>
              <a:defRPr sz="1250" b="1">
                <a:solidFill>
                  <a:srgbClr val="004AC6"/>
                </a:solidFill>
                <a:latin typeface="Malgun Gothic"/>
              </a:defRPr>
            </a:pPr>
            <a:r>
              <a:t>• 비밀번호 미보관 (보안)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users 테이블에 비밀번호 컬럼 자체가 없으며, u-SAINT 포털 검증 후 JWT 세션만 발급</a:t>
            </a:r>
          </a:p>
          <a:p>
            <a:pPr>
              <a:spcBef>
                <a:spcPts val="1000"/>
              </a:spcBef>
              <a:defRPr sz="1250" b="1">
                <a:solidFill>
                  <a:srgbClr val="004AC6"/>
                </a:solidFill>
                <a:latin typeface="Malgun Gothic"/>
              </a:defRPr>
            </a:pPr>
            <a:r>
              <a:t>• Neon Serverless Cloud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Malgun Gothic"/>
              </a:defRPr>
            </a:pPr>
            <a:r>
              <a:t>  클라우드 분산 PostgreSQL로 자동 스케일링 및 SSL 암호화 안전 연결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2067</Words>
  <Application>Microsoft Macintosh PowerPoint</Application>
  <PresentationFormat>On-screen Show (4:3)</PresentationFormat>
  <Paragraphs>286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Malgun Gothic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TRAN TRUNG HAU</cp:lastModifiedBy>
  <cp:revision>10</cp:revision>
  <dcterms:created xsi:type="dcterms:W3CDTF">2013-01-27T09:14:16Z</dcterms:created>
  <dcterms:modified xsi:type="dcterms:W3CDTF">2026-10-19T11:09:49Z</dcterms:modified>
  <cp:category/>
</cp:coreProperties>
</file>