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61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28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463040"/>
            <a:ext cx="7315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54061"/>
                </a:solidFill>
                <a:latin typeface="Malgun Gothic"/>
              </a:defRPr>
            </a:pPr>
            <a:r>
              <a:t>CampusMatch (캠퍼스매치)</a:t>
            </a:r>
          </a:p>
          <a:p>
            <a:pPr algn="ctr">
              <a:spcBef>
                <a:spcPts val="1200"/>
              </a:spcBef>
              <a:defRPr sz="1800">
                <a:solidFill>
                  <a:srgbClr val="334155"/>
                </a:solidFill>
                <a:latin typeface="Malgun Gothic"/>
              </a:defRPr>
            </a:pPr>
            <a:r>
              <a:t>숭실대학교 전용 스터디 &amp; 프로젝트 팀원 매칭 플랫폼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1E293B"/>
                </a:solidFill>
                <a:latin typeface="Malgun Gothic"/>
              </a:defRPr>
            </a:pPr>
            <a:endParaRPr dirty="0"/>
          </a:p>
          <a:p>
            <a:pPr algn="ctr">
              <a:spcBef>
                <a:spcPts val="1200"/>
              </a:spcBef>
              <a:defRPr sz="1800">
                <a:solidFill>
                  <a:srgbClr val="1E293B"/>
                </a:solidFill>
                <a:latin typeface="Malgun Gothic"/>
              </a:defRPr>
            </a:pPr>
            <a:r>
              <a:rPr dirty="0" err="1"/>
              <a:t>AI소프트웨어학부</a:t>
            </a:r>
            <a:endParaRPr dirty="0"/>
          </a:p>
          <a:p>
            <a:pPr algn="ctr">
              <a:spcBef>
                <a:spcPts val="1200"/>
              </a:spcBef>
              <a:defRPr sz="1800" b="1">
                <a:solidFill>
                  <a:srgbClr val="004AC6"/>
                </a:solidFill>
                <a:latin typeface="Malgun Gothic"/>
              </a:defRPr>
            </a:pPr>
            <a:r>
              <a:rPr lang="vi-VN" dirty="0"/>
              <a:t>30</a:t>
            </a:r>
            <a:r>
              <a:rPr dirty="0" err="1"/>
              <a:t>팀</a:t>
            </a:r>
            <a:r>
              <a:rPr dirty="0"/>
              <a:t> (</a:t>
            </a:r>
            <a:r>
              <a:rPr dirty="0" err="1"/>
              <a:t>트란트룽하우</a:t>
            </a:r>
            <a:r>
              <a:rPr dirty="0"/>
              <a:t>, </a:t>
            </a:r>
            <a:r>
              <a:rPr dirty="0" err="1"/>
              <a:t>황뚱백</a:t>
            </a:r>
            <a:r>
              <a:rPr dirty="0"/>
              <a:t>, </a:t>
            </a:r>
            <a:r>
              <a:rPr dirty="0" err="1"/>
              <a:t>응웬치롱</a:t>
            </a:r>
            <a:r>
              <a:rPr dirty="0"/>
              <a:t>, </a:t>
            </a:r>
            <a:r>
              <a:rPr dirty="0" err="1"/>
              <a:t>응오후인트</a:t>
            </a:r>
            <a:r>
              <a:rPr dirty="0"/>
              <a:t>, </a:t>
            </a:r>
            <a:r>
              <a:rPr dirty="0" err="1"/>
              <a:t>피오아웅</a:t>
            </a:r>
            <a:r>
              <a:rPr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목 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953735"/>
          </a:solidFill>
          <a:ln>
            <a:solidFill>
              <a:srgbClr val="953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6304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1. 프로젝트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508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과제 개요, 핵심 문제 해결, 기대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2. 시스템 주요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31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전체 서비스 흐름 및 4대 핵심 기능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5468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3. 시스템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1546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개발 환경, 디자인 시스템, 5대 화면 설계, ERD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40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4. 프로젝트 전체 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9776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기획, 구현, 테스트 일정 (예정)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5. 팀원 역할 및 활동 내용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8006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팀원별 담당 화면 및 개발 업무 (예정)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23559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57784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6. 프로젝트 수행 소감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623559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개발 소감 및 질의응답 (예정)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1. 프로젝트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88720" cy="228600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요약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188720"/>
            <a:ext cx="667512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280160"/>
            <a:ext cx="6309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🎯 숭실대학교 u-SAINT 연동 전용 스터디 &amp; 프로젝트 팀 매칭 플랫폼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100% 실명·학적 검증: 에브리타임/카톡의 '익명성, 잠적, 프리라이더' 문제 해결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1-Click u-SAINT SSO: 별도 가입 없이 학생 포털 계정으로 1초 로그인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안전한 보안 아키텍처: 학생 비밀번호를 서버에 저장하지 않음 (Zero Password Retention)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포지션별 쿼터제: 프론트엔드/백엔드/디자인 등 역할별 정원(Role Quota) 설정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1188720" cy="228600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기대효과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840480"/>
            <a:ext cx="667512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03120" y="4140925"/>
            <a:ext cx="630936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rPr dirty="0"/>
              <a:t>🚀 </a:t>
            </a:r>
            <a:r>
              <a:rPr dirty="0" err="1"/>
              <a:t>학생</a:t>
            </a:r>
            <a:r>
              <a:rPr dirty="0"/>
              <a:t> </a:t>
            </a:r>
            <a:r>
              <a:rPr dirty="0" err="1"/>
              <a:t>협업</a:t>
            </a:r>
            <a:r>
              <a:rPr dirty="0"/>
              <a:t> </a:t>
            </a:r>
            <a:r>
              <a:rPr dirty="0" err="1"/>
              <a:t>성공률</a:t>
            </a:r>
            <a:r>
              <a:rPr dirty="0"/>
              <a:t> </a:t>
            </a:r>
            <a:r>
              <a:rPr dirty="0" err="1"/>
              <a:t>극대화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안전한</a:t>
            </a:r>
            <a:r>
              <a:rPr dirty="0"/>
              <a:t> </a:t>
            </a:r>
            <a:r>
              <a:rPr dirty="0" err="1"/>
              <a:t>교내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생태계</a:t>
            </a:r>
            <a:r>
              <a:rPr dirty="0"/>
              <a:t> </a:t>
            </a:r>
            <a:r>
              <a:rPr dirty="0" err="1"/>
              <a:t>구축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이탈률</a:t>
            </a:r>
            <a:r>
              <a:rPr dirty="0"/>
              <a:t> 0% </a:t>
            </a:r>
            <a:r>
              <a:rPr dirty="0" err="1"/>
              <a:t>지향</a:t>
            </a:r>
            <a:r>
              <a:rPr dirty="0"/>
              <a:t>: </a:t>
            </a:r>
            <a:r>
              <a:rPr dirty="0" err="1"/>
              <a:t>검증된</a:t>
            </a:r>
            <a:r>
              <a:rPr dirty="0"/>
              <a:t> </a:t>
            </a:r>
            <a:r>
              <a:rPr dirty="0" err="1"/>
              <a:t>학우</a:t>
            </a:r>
            <a:r>
              <a:rPr dirty="0"/>
              <a:t> </a:t>
            </a:r>
            <a:r>
              <a:rPr dirty="0" err="1"/>
              <a:t>간</a:t>
            </a:r>
            <a:r>
              <a:rPr dirty="0"/>
              <a:t> </a:t>
            </a:r>
            <a:r>
              <a:rPr dirty="0" err="1"/>
              <a:t>매칭으로</a:t>
            </a:r>
            <a:r>
              <a:rPr dirty="0"/>
              <a:t> </a:t>
            </a:r>
            <a:r>
              <a:rPr dirty="0" err="1"/>
              <a:t>책임감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협업</a:t>
            </a:r>
            <a:r>
              <a:rPr dirty="0"/>
              <a:t>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제공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빌딩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70% </a:t>
            </a:r>
            <a:r>
              <a:rPr dirty="0" err="1"/>
              <a:t>단축</a:t>
            </a:r>
            <a:r>
              <a:rPr dirty="0"/>
              <a:t>: </a:t>
            </a:r>
            <a:r>
              <a:rPr dirty="0" err="1"/>
              <a:t>단과대</a:t>
            </a:r>
            <a:r>
              <a:rPr dirty="0"/>
              <a:t>/</a:t>
            </a:r>
            <a:r>
              <a:rPr dirty="0" err="1"/>
              <a:t>학부</a:t>
            </a:r>
            <a:r>
              <a:rPr dirty="0"/>
              <a:t>/</a:t>
            </a:r>
            <a:r>
              <a:rPr dirty="0" err="1"/>
              <a:t>개설과목</a:t>
            </a:r>
            <a:r>
              <a:rPr dirty="0"/>
              <a:t>(</a:t>
            </a:r>
            <a:r>
              <a:rPr dirty="0" err="1"/>
              <a:t>캡스톤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</a:t>
            </a:r>
            <a:r>
              <a:rPr dirty="0" err="1"/>
              <a:t>필터로</a:t>
            </a:r>
            <a:r>
              <a:rPr dirty="0"/>
              <a:t> </a:t>
            </a:r>
            <a:r>
              <a:rPr dirty="0" err="1"/>
              <a:t>빠른</a:t>
            </a:r>
            <a:r>
              <a:rPr dirty="0"/>
              <a:t> </a:t>
            </a:r>
            <a:r>
              <a:rPr dirty="0" err="1"/>
              <a:t>인재</a:t>
            </a:r>
            <a:r>
              <a:rPr dirty="0"/>
              <a:t> </a:t>
            </a:r>
            <a:r>
              <a:rPr dirty="0" err="1"/>
              <a:t>발굴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리더</a:t>
            </a:r>
            <a:r>
              <a:rPr dirty="0"/>
              <a:t> </a:t>
            </a:r>
            <a:r>
              <a:rPr dirty="0" err="1"/>
              <a:t>구인</a:t>
            </a:r>
            <a:r>
              <a:rPr dirty="0"/>
              <a:t> </a:t>
            </a:r>
            <a:r>
              <a:rPr dirty="0" err="1"/>
              <a:t>스트레스</a:t>
            </a:r>
            <a:r>
              <a:rPr dirty="0"/>
              <a:t> </a:t>
            </a:r>
            <a:r>
              <a:rPr dirty="0" err="1"/>
              <a:t>해소</a:t>
            </a:r>
            <a:r>
              <a:rPr dirty="0"/>
              <a:t>: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승인</a:t>
            </a:r>
            <a:r>
              <a:rPr dirty="0"/>
              <a:t>/</a:t>
            </a:r>
            <a:r>
              <a:rPr dirty="0" err="1"/>
              <a:t>반려</a:t>
            </a:r>
            <a:r>
              <a:rPr dirty="0"/>
              <a:t>(Accept/Reject)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손쉬운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2. 시스템 주요 기능 - (1) 서비스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353312" cy="41148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1단계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u-SAINT SSO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포털 ID/PW 1초 로그인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단과대·학과·학년 자동동기화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JWT 보안 세션 발급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1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13432" y="1508760"/>
            <a:ext cx="1353312" cy="41148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2단계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그룹 탐색 &amp; 필터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단과대 / 학부 / 연도 필터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과목명 및 기술스택 검색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카드 형태 한눈에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95344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986783" y="1508760"/>
            <a:ext cx="1353312" cy="411480"/>
          </a:xfrm>
          <a:prstGeom prst="roundRect">
            <a:avLst/>
          </a:prstGeom>
          <a:solidFill>
            <a:srgbClr val="E4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3단계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8496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모집 공고 등록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3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스터디/프로젝트 소개 작성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역할별 인원(FE/BE) 설정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모집 마감일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5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660135" y="1508760"/>
            <a:ext cx="1353312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4단계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1847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간편 지원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0135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그룹 상세 요강 확인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 동기 &amp; 희망 역할 선택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원클릭 지원서 제출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7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33488" y="1508760"/>
            <a:ext cx="1353312" cy="411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5단계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199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리더 승인 &amp; 확정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지원서 검토 대시보드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원클릭 [수락] / [거절]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정원 도달 시 자동 마감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8046720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💡 요약: 학교 공식 u-SAINT 인증을 시작으로 [탐색 ➔ 지원 ➔ 승인]까지 모든 단계가 원스톱으로 연결됩니다.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2. 시스템 주요 기능 - (2) 4대 핵심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4AC6"/>
                </a:solidFill>
                <a:latin typeface="Malgun Gothic"/>
              </a:defRPr>
            </a:pPr>
            <a:r>
              <a:t>1. u-SAINT SSO 간편 인증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t>학생 포털 연동 &amp; 비밀번호 미저장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별도 회원가입 없이 학교 포털 계정으로 바로 로그인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이름, 학번, 소속 단과대, 학과, 학년 정보 자동 동기화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비밀번호는 메모리 확인 후 즉시 파기 (보안성 100%)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18872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29844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4061"/>
                </a:solidFill>
                <a:latin typeface="Malgun Gothic"/>
              </a:defRPr>
            </a:pPr>
            <a:r>
              <a:t>2. 3단계 학적 필터 &amp; 스마트 검색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t>단과대 · 학부 · 연도별 정밀 매칭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65960"/>
            <a:ext cx="3611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단과대학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➔ </a:t>
            </a:r>
            <a:r>
              <a:rPr dirty="0" err="1"/>
              <a:t>학부</a:t>
            </a:r>
            <a:r>
              <a:rPr dirty="0"/>
              <a:t>(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➔ </a:t>
            </a:r>
            <a:r>
              <a:rPr dirty="0" err="1"/>
              <a:t>연도별</a:t>
            </a:r>
            <a:r>
              <a:rPr dirty="0"/>
              <a:t> </a:t>
            </a:r>
            <a:r>
              <a:rPr dirty="0" err="1"/>
              <a:t>필터링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과목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dirty="0"/>
              <a:t>CS490),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제목</a:t>
            </a:r>
            <a:r>
              <a:rPr dirty="0"/>
              <a:t>, </a:t>
            </a:r>
            <a:r>
              <a:rPr dirty="0" err="1"/>
              <a:t>기술스택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(</a:t>
            </a:r>
            <a:r>
              <a:rPr dirty="0" err="1"/>
              <a:t>모집중</a:t>
            </a:r>
            <a:r>
              <a:rPr dirty="0"/>
              <a:t>/</a:t>
            </a:r>
            <a:r>
              <a:rPr dirty="0" err="1"/>
              <a:t>마감</a:t>
            </a:r>
            <a:r>
              <a:rPr dirty="0"/>
              <a:t>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최신순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950208"/>
            <a:ext cx="3611880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46C0A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역할별</a:t>
            </a:r>
            <a:r>
              <a:rPr dirty="0"/>
              <a:t> </a:t>
            </a:r>
            <a:r>
              <a:rPr lang="en-KR" sz="1400" b="1" dirty="0">
                <a:solidFill>
                  <a:srgbClr val="E46C0A"/>
                </a:solidFill>
                <a:latin typeface="Malgun Gothic"/>
              </a:rPr>
              <a:t>인원 관리 </a:t>
            </a:r>
            <a:r>
              <a:rPr dirty="0"/>
              <a:t>(Role Quota)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rPr lang="en-KR" sz="1100" dirty="0">
                <a:solidFill>
                  <a:srgbClr val="64748B"/>
                </a:solidFill>
                <a:latin typeface="Malgun Gothic"/>
              </a:rPr>
              <a:t>각 포지션에 필요한 인원과 모집 현황을 확인하고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1772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Frontend, Backend, Designer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정원</a:t>
            </a:r>
            <a:r>
              <a:rPr dirty="0"/>
              <a:t> </a:t>
            </a:r>
            <a:r>
              <a:rPr dirty="0" err="1"/>
              <a:t>설정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충원</a:t>
            </a:r>
            <a:r>
              <a:rPr dirty="0"/>
              <a:t> </a:t>
            </a:r>
            <a:r>
              <a:rPr dirty="0" err="1"/>
              <a:t>프로그레스</a:t>
            </a:r>
            <a:r>
              <a:rPr dirty="0"/>
              <a:t> </a:t>
            </a:r>
            <a:r>
              <a:rPr dirty="0" err="1"/>
              <a:t>바</a:t>
            </a:r>
            <a:r>
              <a:rPr dirty="0"/>
              <a:t> </a:t>
            </a:r>
            <a:r>
              <a:rPr dirty="0" err="1"/>
              <a:t>제공</a:t>
            </a:r>
            <a:r>
              <a:rPr dirty="0"/>
              <a:t> (</a:t>
            </a:r>
            <a:r>
              <a:rPr dirty="0" err="1"/>
              <a:t>예</a:t>
            </a:r>
            <a:r>
              <a:rPr dirty="0"/>
              <a:t>: FE 1/2, BE 2/2)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 </a:t>
            </a:r>
            <a:r>
              <a:rPr dirty="0" err="1"/>
              <a:t>쏠림</a:t>
            </a:r>
            <a:r>
              <a:rPr dirty="0"/>
              <a:t> </a:t>
            </a:r>
            <a:r>
              <a:rPr dirty="0" err="1"/>
              <a:t>현상</a:t>
            </a:r>
            <a:r>
              <a:rPr dirty="0"/>
              <a:t> </a:t>
            </a:r>
            <a:r>
              <a:rPr dirty="0" err="1"/>
              <a:t>방지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밸런스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4709160" y="384048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0" y="395020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Malgun Gothic"/>
              </a:defRPr>
            </a:pPr>
            <a:r>
              <a:rPr dirty="0"/>
              <a:t>4. </a:t>
            </a:r>
            <a:r>
              <a:rPr dirty="0" err="1"/>
              <a:t>리더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&amp;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마이페이지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승인</a:t>
            </a:r>
            <a:r>
              <a:rPr dirty="0"/>
              <a:t>/</a:t>
            </a:r>
            <a:r>
              <a:rPr dirty="0" err="1"/>
              <a:t>반려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현황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846320" y="461772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리더 대시보드에서 지원서 확인 후 원클릭 [수락] / [거절]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수락 시 정식 팀원 자동 등록 &amp; 정원 충족 시 자동 마감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지원자 마이페이지에서 심사 상태(검토중/승인/반려) 실시간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(1) 시스템 구축 환경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4AC6"/>
                </a:solidFill>
                <a:latin typeface="Malgun Gothic"/>
              </a:defRPr>
            </a:pPr>
            <a:r>
              <a:t>🎨 UX / UI 설계 &amp; 프로토타이핑 도구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Figma (UI/UX 프로토타입)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와이어프레임 및 고해상도 목업 100% 설계 완료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Custom Atomic Design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외부 무거운 라이브러리 대신 직접 구축한 가벼운 UI 토큰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반응형 웹 레이아웃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모바일, 태블릿, 데스크톱 화면 최적화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BFF 보안 게이트웨이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Next.js Route Handler로 학교 포털 인증 트래픽 안전 격리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4061"/>
                </a:solidFill>
                <a:latin typeface="Malgun Gothic"/>
              </a:defRPr>
            </a:pPr>
            <a:r>
              <a:t>⚙️ 개발 기술 스택 (Tech Stack)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Frontend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Next.js 16 (App Router), React 19, TypeScript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Tailwind CSS v4, Zustand Store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Backend API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Java 17/21, Spring Boot 3.4, Spring Data JPA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Spring Security, Stateless JWT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Database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PostgreSQL 16 on Neon.tech (Cloud Serverless)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SSL 암호화 연결, HikariCP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배포 &amp; 운영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Vercel Global Edge (웹 호스팅)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Oracle Cloud Free VM (백엔드 서버 24시간 가동)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(2) UI/UX 디자인 시스템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4AC6"/>
                </a:solidFill>
                <a:latin typeface="Malgun Gothic"/>
              </a:defRPr>
            </a:pPr>
            <a:r>
              <a:t>🎨 컬러 &amp; 테마 토큰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숭실 블루 (Primary)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#004AC6 대표 메인 컬러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상태 컬러 (Status)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초록(모집중), 노랑(대기), 빨강(마감)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다크/라이트 모드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CSS 변수 기반 원클릭 즉시 전환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시각 피로 완화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야간 학습 시 눈이 편안한 대비 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90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4061"/>
                </a:solidFill>
                <a:latin typeface="Malgun Gothic"/>
              </a:defRPr>
            </a:pPr>
            <a:r>
              <a:t>🔤 서체 &amp; 스타일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서체 (Typography)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Pretendard / Malgun Gothic 적용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폰트 위계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H1(32px) ~ Body(14px) 체계화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모던 라운딩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rounded-xl (12px) 부드러운 곡률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호버 인터랙션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카드 마우스 오버 시 부드러운 그림자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46C0A"/>
                </a:solidFill>
                <a:latin typeface="Malgun Gothic"/>
              </a:defRPr>
            </a:pPr>
            <a:r>
              <a:t>🧩 공통 재사용 컴포넌트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Button &amp; Input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Primary, Outline, SearchInput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Badge &amp; Tag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상태 뱃지, 학과 및 기술스택 태그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Card &amp; Modal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GroupCard, Quick Apply 모달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RoleQuota &amp; Avatar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포지션 정원 바, 멤버 아바타 그룹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(3) </a:t>
            </a:r>
            <a:r>
              <a:rPr dirty="0" err="1"/>
              <a:t>로그인</a:t>
            </a:r>
            <a:r>
              <a:rPr dirty="0"/>
              <a:t> &amp; </a:t>
            </a:r>
            <a:r>
              <a:rPr dirty="0" err="1"/>
              <a:t>랜딩</a:t>
            </a:r>
            <a:r>
              <a:rPr dirty="0"/>
              <a:t> </a:t>
            </a:r>
            <a:r>
              <a:rPr dirty="0" err="1"/>
              <a:t>페이지</a:t>
            </a:r>
            <a:r>
              <a:rPr dirty="0"/>
              <a:t> [</a:t>
            </a:r>
            <a:r>
              <a:rPr dirty="0" err="1"/>
              <a:t>피오아웅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9274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피오아웅</a:t>
            </a:r>
            <a:r>
              <a:rPr dirty="0"/>
              <a:t> 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SSO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 &amp; </a:t>
            </a:r>
            <a:r>
              <a:rPr dirty="0" err="1"/>
              <a:t>메인</a:t>
            </a:r>
            <a:r>
              <a:rPr dirty="0"/>
              <a:t> </a:t>
            </a:r>
            <a:r>
              <a:rPr dirty="0" err="1"/>
              <a:t>랜딩</a:t>
            </a:r>
            <a:r>
              <a:rPr dirty="0"/>
              <a:t> </a:t>
            </a:r>
            <a:r>
              <a:rPr dirty="0" err="1"/>
              <a:t>페이지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SSO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학교</a:t>
            </a:r>
            <a:r>
              <a:rPr dirty="0"/>
              <a:t> </a:t>
            </a:r>
            <a:r>
              <a:rPr dirty="0" err="1"/>
              <a:t>포털</a:t>
            </a:r>
            <a:r>
              <a:rPr dirty="0"/>
              <a:t>(</a:t>
            </a:r>
            <a:r>
              <a:rPr dirty="0" err="1"/>
              <a:t>smartid.ssu.ac.kr</a:t>
            </a:r>
            <a:r>
              <a:rPr dirty="0"/>
              <a:t>)</a:t>
            </a:r>
            <a:r>
              <a:rPr dirty="0" err="1"/>
              <a:t>과</a:t>
            </a:r>
            <a:r>
              <a:rPr dirty="0"/>
              <a:t> </a:t>
            </a:r>
            <a:r>
              <a:rPr dirty="0" err="1"/>
              <a:t>연동하여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회원가입</a:t>
            </a:r>
            <a:r>
              <a:rPr dirty="0"/>
              <a:t> </a:t>
            </a:r>
            <a:r>
              <a:rPr dirty="0" err="1"/>
              <a:t>없이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학과</a:t>
            </a:r>
            <a:r>
              <a:rPr dirty="0"/>
              <a:t>/</a:t>
            </a:r>
            <a:r>
              <a:rPr dirty="0" err="1"/>
              <a:t>학년</a:t>
            </a:r>
            <a:r>
              <a:rPr dirty="0"/>
              <a:t>) </a:t>
            </a:r>
            <a:r>
              <a:rPr dirty="0" err="1"/>
              <a:t>가져오기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설계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포털</a:t>
            </a:r>
            <a:r>
              <a:rPr dirty="0"/>
              <a:t> </a:t>
            </a:r>
            <a:r>
              <a:rPr dirty="0" err="1"/>
              <a:t>비밀번호는</a:t>
            </a:r>
            <a:r>
              <a:rPr dirty="0"/>
              <a:t> </a:t>
            </a:r>
            <a:r>
              <a:rPr dirty="0" err="1"/>
              <a:t>서버에</a:t>
            </a:r>
            <a:r>
              <a:rPr dirty="0"/>
              <a:t> </a:t>
            </a:r>
            <a:r>
              <a:rPr dirty="0" err="1"/>
              <a:t>일절</a:t>
            </a:r>
            <a:r>
              <a:rPr dirty="0"/>
              <a:t> </a:t>
            </a:r>
            <a:r>
              <a:rPr dirty="0" err="1"/>
              <a:t>저장하지</a:t>
            </a:r>
            <a:r>
              <a:rPr dirty="0"/>
              <a:t> </a:t>
            </a:r>
            <a:r>
              <a:rPr dirty="0" err="1"/>
              <a:t>않으며</a:t>
            </a:r>
            <a:r>
              <a:rPr dirty="0"/>
              <a:t>, JWT </a:t>
            </a:r>
            <a:r>
              <a:rPr dirty="0" err="1"/>
              <a:t>토큰으로</a:t>
            </a:r>
            <a:r>
              <a:rPr dirty="0"/>
              <a:t> </a:t>
            </a:r>
            <a:r>
              <a:rPr dirty="0" err="1"/>
              <a:t>안전하게</a:t>
            </a:r>
            <a:r>
              <a:rPr dirty="0"/>
              <a:t>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 </a:t>
            </a:r>
            <a:r>
              <a:rPr dirty="0" err="1"/>
              <a:t>유도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비로그인</a:t>
            </a:r>
            <a:r>
              <a:rPr dirty="0"/>
              <a:t> </a:t>
            </a:r>
            <a:r>
              <a:rPr dirty="0" err="1"/>
              <a:t>상태로</a:t>
            </a:r>
            <a:r>
              <a:rPr dirty="0"/>
              <a:t> </a:t>
            </a:r>
            <a:r>
              <a:rPr dirty="0" err="1"/>
              <a:t>그룹</a:t>
            </a:r>
            <a:r>
              <a:rPr dirty="0"/>
              <a:t>/</a:t>
            </a:r>
            <a:r>
              <a:rPr dirty="0" err="1"/>
              <a:t>마이페이지</a:t>
            </a:r>
            <a:r>
              <a:rPr dirty="0"/>
              <a:t> </a:t>
            </a:r>
            <a:r>
              <a:rPr dirty="0" err="1"/>
              <a:t>접속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팝업을</a:t>
            </a:r>
            <a:r>
              <a:rPr dirty="0"/>
              <a:t> </a:t>
            </a:r>
            <a:r>
              <a:rPr dirty="0" err="1"/>
              <a:t>띄우고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복귀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1617C3-1DAB-AEEB-1603-1A9001C76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53" y="1782207"/>
            <a:ext cx="3884091" cy="39085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(4)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탐색</a:t>
            </a:r>
            <a:r>
              <a:rPr dirty="0"/>
              <a:t> &amp; </a:t>
            </a:r>
            <a:r>
              <a:rPr dirty="0" err="1"/>
              <a:t>필터링</a:t>
            </a:r>
            <a:r>
              <a:rPr dirty="0"/>
              <a:t> [</a:t>
            </a:r>
            <a:r>
              <a:rPr dirty="0" err="1"/>
              <a:t>트란트룽하우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1263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4160520" cy="546811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3440" y="1333282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6832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1479476"/>
            <a:ext cx="3520440" cy="3577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dirty="0"/>
              <a:t>Groups </a:t>
            </a:r>
            <a:r>
              <a:rPr lang="ko-KR" altLang="en-US" dirty="0"/>
              <a:t>목록 페이지 </a:t>
            </a:r>
            <a:r>
              <a:rPr lang="en-US" altLang="ko-KR" dirty="0"/>
              <a:t>&amp; </a:t>
            </a:r>
            <a:r>
              <a:rPr lang="ko-KR" altLang="en-US" dirty="0"/>
              <a:t>빠른 지원 </a:t>
            </a:r>
            <a:r>
              <a:rPr lang="ko-KR" altLang="en-US" dirty="0" err="1"/>
              <a:t>모달</a:t>
            </a:r>
            <a:endParaRPr lang="ko-KR" alt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3단계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필터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단과대학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) ➔ </a:t>
            </a:r>
            <a:r>
              <a:rPr dirty="0" err="1"/>
              <a:t>학부</a:t>
            </a:r>
            <a:r>
              <a:rPr dirty="0"/>
              <a:t>(</a:t>
            </a:r>
            <a:r>
              <a:rPr dirty="0" err="1"/>
              <a:t>소프트웨어</a:t>
            </a:r>
            <a:r>
              <a:rPr dirty="0"/>
              <a:t>) ➔ </a:t>
            </a:r>
            <a:r>
              <a:rPr dirty="0" err="1"/>
              <a:t>개설년도</a:t>
            </a:r>
            <a:r>
              <a:rPr dirty="0"/>
              <a:t> </a:t>
            </a:r>
            <a:r>
              <a:rPr dirty="0" err="1"/>
              <a:t>드롭다운으로</a:t>
            </a:r>
            <a:r>
              <a:rPr dirty="0"/>
              <a:t> 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정확하게</a:t>
            </a:r>
            <a:r>
              <a:rPr dirty="0"/>
              <a:t> </a:t>
            </a:r>
            <a:r>
              <a:rPr dirty="0" err="1"/>
              <a:t>필터링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통합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과목코드</a:t>
            </a:r>
            <a:r>
              <a:rPr dirty="0"/>
              <a:t>(CS490), React/Spring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기술</a:t>
            </a:r>
            <a:r>
              <a:rPr dirty="0"/>
              <a:t>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제목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카드</a:t>
            </a:r>
            <a:r>
              <a:rPr dirty="0"/>
              <a:t> </a:t>
            </a:r>
            <a:r>
              <a:rPr dirty="0" err="1"/>
              <a:t>그리드</a:t>
            </a:r>
            <a:r>
              <a:rPr dirty="0"/>
              <a:t> &amp; </a:t>
            </a:r>
            <a:r>
              <a:rPr dirty="0" err="1"/>
              <a:t>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페이지당</a:t>
            </a:r>
            <a:r>
              <a:rPr dirty="0"/>
              <a:t> 6개씩 </a:t>
            </a:r>
            <a:r>
              <a:rPr dirty="0" err="1"/>
              <a:t>카드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표시하고</a:t>
            </a:r>
            <a:r>
              <a:rPr dirty="0"/>
              <a:t>, [</a:t>
            </a:r>
            <a:r>
              <a:rPr dirty="0" err="1"/>
              <a:t>빠른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] </a:t>
            </a:r>
            <a:r>
              <a:rPr dirty="0" err="1"/>
              <a:t>버튼</a:t>
            </a:r>
            <a:r>
              <a:rPr dirty="0"/>
              <a:t> </a:t>
            </a:r>
            <a:r>
              <a:rPr dirty="0" err="1"/>
              <a:t>클릭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모달에서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제출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2E5328-D3A4-2DB7-5E77-18CB6506D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1583625"/>
            <a:ext cx="3540899" cy="4732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(4-1)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(Group Detail) [</a:t>
            </a:r>
            <a:r>
              <a:rPr dirty="0" err="1"/>
              <a:t>트란트룽하우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2990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📱 화면 레이아웃 (Group Detail)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6052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💡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영역</a:t>
            </a:r>
            <a:r>
              <a:rPr dirty="0"/>
              <a:t> (Key Sections)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상단</a:t>
            </a:r>
            <a:r>
              <a:rPr dirty="0"/>
              <a:t> </a:t>
            </a:r>
            <a:r>
              <a:rPr dirty="0" err="1"/>
              <a:t>헤더</a:t>
            </a:r>
            <a:r>
              <a:rPr dirty="0"/>
              <a:t>: </a:t>
            </a:r>
            <a:r>
              <a:rPr dirty="0" err="1"/>
              <a:t>과목코드</a:t>
            </a:r>
            <a:r>
              <a:rPr dirty="0"/>
              <a:t>, </a:t>
            </a:r>
            <a:r>
              <a:rPr dirty="0" err="1"/>
              <a:t>모집상태</a:t>
            </a:r>
            <a:r>
              <a:rPr dirty="0"/>
              <a:t> </a:t>
            </a:r>
            <a:r>
              <a:rPr dirty="0" err="1"/>
              <a:t>뱃지</a:t>
            </a:r>
            <a:r>
              <a:rPr dirty="0"/>
              <a:t>, </a:t>
            </a:r>
            <a:r>
              <a:rPr dirty="0" err="1"/>
              <a:t>미팅방식</a:t>
            </a:r>
            <a:r>
              <a:rPr dirty="0"/>
              <a:t>,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번역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개요</a:t>
            </a:r>
            <a:r>
              <a:rPr dirty="0"/>
              <a:t>: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A+ </a:t>
            </a:r>
            <a:r>
              <a:rPr dirty="0" err="1"/>
              <a:t>지향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, </a:t>
            </a:r>
            <a:r>
              <a:rPr dirty="0" err="1"/>
              <a:t>주간</a:t>
            </a:r>
            <a:r>
              <a:rPr dirty="0"/>
              <a:t>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모임</a:t>
            </a:r>
            <a:r>
              <a:rPr dirty="0"/>
              <a:t> </a:t>
            </a:r>
            <a:r>
              <a:rPr dirty="0" err="1"/>
              <a:t>일정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: FE/BE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직군별</a:t>
            </a:r>
            <a:r>
              <a:rPr dirty="0"/>
              <a:t> </a:t>
            </a:r>
            <a:r>
              <a:rPr dirty="0" err="1"/>
              <a:t>정원</a:t>
            </a:r>
            <a:r>
              <a:rPr dirty="0"/>
              <a:t> </a:t>
            </a:r>
            <a:r>
              <a:rPr dirty="0" err="1"/>
              <a:t>시각화</a:t>
            </a:r>
            <a:r>
              <a:rPr dirty="0"/>
              <a:t> </a:t>
            </a:r>
            <a:r>
              <a:rPr dirty="0" err="1"/>
              <a:t>바</a:t>
            </a:r>
            <a:r>
              <a:rPr dirty="0"/>
              <a:t> &amp; Filled/Open </a:t>
            </a:r>
            <a:r>
              <a:rPr dirty="0" err="1"/>
              <a:t>뱃지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리더</a:t>
            </a:r>
            <a:r>
              <a:rPr dirty="0"/>
              <a:t> &amp; </a:t>
            </a:r>
            <a:r>
              <a:rPr dirty="0" err="1"/>
              <a:t>로스터</a:t>
            </a:r>
            <a:r>
              <a:rPr dirty="0"/>
              <a:t>: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팀장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목록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CTA: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충족률</a:t>
            </a:r>
            <a:r>
              <a:rPr dirty="0"/>
              <a:t>(%)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(Apply to Join)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325880"/>
            <a:ext cx="3520440" cy="3559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Group Detail (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페이지</a:t>
            </a:r>
            <a:r>
              <a:rPr dirty="0"/>
              <a:t>)</a:t>
            </a:r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개요</a:t>
            </a:r>
            <a:r>
              <a:rPr dirty="0"/>
              <a:t> &amp;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일정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과제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(A+ </a:t>
            </a:r>
            <a:r>
              <a:rPr dirty="0" err="1"/>
              <a:t>학점</a:t>
            </a:r>
            <a:r>
              <a:rPr dirty="0"/>
              <a:t> </a:t>
            </a:r>
            <a:r>
              <a:rPr dirty="0" err="1"/>
              <a:t>지향</a:t>
            </a:r>
            <a:r>
              <a:rPr dirty="0"/>
              <a:t>), </a:t>
            </a:r>
            <a:r>
              <a:rPr dirty="0" err="1"/>
              <a:t>주간</a:t>
            </a:r>
            <a:r>
              <a:rPr dirty="0"/>
              <a:t>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모임</a:t>
            </a:r>
            <a:r>
              <a:rPr dirty="0"/>
              <a:t>(Hybrid Zoom/</a:t>
            </a:r>
            <a:r>
              <a:rPr dirty="0" err="1"/>
              <a:t>오프라인</a:t>
            </a:r>
            <a:r>
              <a:rPr dirty="0"/>
              <a:t>) </a:t>
            </a:r>
            <a:r>
              <a:rPr dirty="0" err="1"/>
              <a:t>일정을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명시하여</a:t>
            </a:r>
            <a:r>
              <a:rPr dirty="0"/>
              <a:t> </a:t>
            </a:r>
            <a:r>
              <a:rPr dirty="0" err="1"/>
              <a:t>적합한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유도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(Role Quota) </a:t>
            </a:r>
            <a:r>
              <a:rPr dirty="0" err="1"/>
              <a:t>시각화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lang="en-KR" sz="1050" dirty="0">
                <a:solidFill>
                  <a:srgbClr val="334155"/>
                </a:solidFill>
                <a:latin typeface="Malgun Gothic"/>
              </a:rPr>
              <a:t>Frontend Developer, Backend Developer, Fullstack / DevOps </a:t>
            </a:r>
            <a:r>
              <a:rPr lang="ko-KR" altLang="en-US" sz="1050" dirty="0">
                <a:solidFill>
                  <a:srgbClr val="334155"/>
                </a:solidFill>
                <a:latin typeface="Malgun Gothic"/>
              </a:rPr>
              <a:t>선택</a:t>
            </a:r>
            <a:endParaRPr lang="en-KR" sz="1050" dirty="0">
              <a:solidFill>
                <a:srgbClr val="334155"/>
              </a:solidFill>
              <a:latin typeface="Malgun Gothic"/>
            </a:endParaRP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팀장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&amp; </a:t>
            </a:r>
            <a:r>
              <a:rPr dirty="0" err="1"/>
              <a:t>멤버</a:t>
            </a:r>
            <a:r>
              <a:rPr dirty="0"/>
              <a:t> </a:t>
            </a:r>
            <a:r>
              <a:rPr dirty="0" err="1"/>
              <a:t>로스터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개설자</a:t>
            </a:r>
            <a:r>
              <a:rPr dirty="0"/>
              <a:t> </a:t>
            </a:r>
            <a:r>
              <a:rPr dirty="0" err="1"/>
              <a:t>신원</a:t>
            </a:r>
            <a:r>
              <a:rPr dirty="0"/>
              <a:t>(</a:t>
            </a:r>
            <a:r>
              <a:rPr dirty="0" err="1"/>
              <a:t>전공</a:t>
            </a:r>
            <a:r>
              <a:rPr dirty="0"/>
              <a:t>/</a:t>
            </a:r>
            <a:r>
              <a:rPr dirty="0" err="1"/>
              <a:t>학번</a:t>
            </a:r>
            <a:r>
              <a:rPr dirty="0"/>
              <a:t>/</a:t>
            </a:r>
            <a:r>
              <a:rPr dirty="0" err="1"/>
              <a:t>이메일</a:t>
            </a:r>
            <a:r>
              <a:rPr dirty="0"/>
              <a:t>)</a:t>
            </a:r>
            <a:r>
              <a:rPr dirty="0" err="1"/>
              <a:t>과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합류</a:t>
            </a:r>
            <a:r>
              <a:rPr dirty="0"/>
              <a:t> </a:t>
            </a:r>
            <a:r>
              <a:rPr dirty="0" err="1"/>
              <a:t>멤버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투명하게</a:t>
            </a:r>
            <a:r>
              <a:rPr dirty="0"/>
              <a:t> </a:t>
            </a:r>
            <a:r>
              <a:rPr dirty="0" err="1"/>
              <a:t>공개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CTA &amp; </a:t>
            </a:r>
            <a:r>
              <a:rPr dirty="0" err="1"/>
              <a:t>반응형</a:t>
            </a:r>
            <a:r>
              <a:rPr dirty="0"/>
              <a:t> </a:t>
            </a:r>
            <a:r>
              <a:rPr dirty="0" err="1"/>
              <a:t>최적화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충족률</a:t>
            </a:r>
            <a:r>
              <a:rPr dirty="0"/>
              <a:t>(%) </a:t>
            </a:r>
            <a:r>
              <a:rPr dirty="0" err="1"/>
              <a:t>게이지</a:t>
            </a:r>
            <a:r>
              <a:rPr dirty="0"/>
              <a:t>, [Apply to Join Group] </a:t>
            </a:r>
            <a:r>
              <a:rPr dirty="0" err="1"/>
              <a:t>버튼</a:t>
            </a:r>
            <a:r>
              <a:rPr dirty="0"/>
              <a:t>, </a:t>
            </a:r>
            <a:r>
              <a:rPr dirty="0" err="1"/>
              <a:t>모바일</a:t>
            </a:r>
            <a:r>
              <a:rPr dirty="0"/>
              <a:t> Sticky Bar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번역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C3405DB-CD48-FCB5-3A10-510FA0D9A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411" y="1584670"/>
            <a:ext cx="3877149" cy="237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2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(4-2) 지원서 작성 모달 (Application Modal) [트란트룽하우]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81278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📱 화면 레이아웃 (Application Modal)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40" y="1325880"/>
            <a:ext cx="3520440" cy="364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ApplyModal</a:t>
            </a:r>
            <a:r>
              <a:rPr dirty="0"/>
              <a:t> (</a:t>
            </a:r>
            <a:r>
              <a:rPr dirty="0" err="1"/>
              <a:t>프로젝트</a:t>
            </a:r>
            <a:r>
              <a:rPr dirty="0"/>
              <a:t>/</a:t>
            </a:r>
            <a:r>
              <a:rPr dirty="0" err="1"/>
              <a:t>스터디</a:t>
            </a:r>
            <a:r>
              <a:rPr dirty="0"/>
              <a:t>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팝업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)</a:t>
            </a:r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로그인된</a:t>
            </a:r>
            <a:r>
              <a:rPr dirty="0"/>
              <a:t> </a:t>
            </a:r>
            <a:r>
              <a:rPr dirty="0" err="1"/>
              <a:t>학우의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학번</a:t>
            </a:r>
            <a:r>
              <a:rPr dirty="0"/>
              <a:t>, </a:t>
            </a:r>
            <a:r>
              <a:rPr dirty="0" err="1"/>
              <a:t>학부</a:t>
            </a:r>
            <a:r>
              <a:rPr dirty="0"/>
              <a:t>, </a:t>
            </a:r>
            <a:r>
              <a:rPr dirty="0" err="1"/>
              <a:t>학년</a:t>
            </a:r>
            <a:r>
              <a:rPr dirty="0"/>
              <a:t>)</a:t>
            </a:r>
            <a:r>
              <a:rPr dirty="0" err="1"/>
              <a:t>를</a:t>
            </a:r>
            <a:r>
              <a:rPr dirty="0"/>
              <a:t> u-SAINT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뱃지와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매핑하여</a:t>
            </a:r>
            <a:r>
              <a:rPr dirty="0"/>
              <a:t> </a:t>
            </a:r>
            <a:r>
              <a:rPr dirty="0" err="1"/>
              <a:t>신원</a:t>
            </a:r>
            <a:r>
              <a:rPr dirty="0"/>
              <a:t> </a:t>
            </a:r>
            <a:r>
              <a:rPr dirty="0" err="1"/>
              <a:t>신뢰도</a:t>
            </a:r>
            <a:r>
              <a:rPr dirty="0"/>
              <a:t> </a:t>
            </a:r>
            <a:r>
              <a:rPr dirty="0" err="1"/>
              <a:t>확보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희망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(Desired Role) </a:t>
            </a:r>
            <a:r>
              <a:rPr dirty="0" err="1"/>
              <a:t>선택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해당</a:t>
            </a:r>
            <a:r>
              <a:rPr dirty="0"/>
              <a:t> </a:t>
            </a:r>
            <a:r>
              <a:rPr dirty="0" err="1"/>
              <a:t>그룹에서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중인</a:t>
            </a:r>
            <a:r>
              <a:rPr dirty="0"/>
              <a:t> </a:t>
            </a:r>
            <a:r>
              <a:rPr dirty="0" err="1"/>
              <a:t>오픈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(</a:t>
            </a:r>
            <a:r>
              <a:rPr lang="vi-VN" dirty="0"/>
              <a:t>Frontend, Backend </a:t>
            </a:r>
            <a:r>
              <a:rPr dirty="0" err="1"/>
              <a:t>등</a:t>
            </a:r>
            <a:r>
              <a:rPr dirty="0"/>
              <a:t>)</a:t>
            </a:r>
            <a:r>
              <a:rPr dirty="0" err="1"/>
              <a:t>을</a:t>
            </a:r>
            <a:r>
              <a:rPr dirty="0"/>
              <a:t>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토글</a:t>
            </a:r>
            <a:r>
              <a:rPr dirty="0"/>
              <a:t> </a:t>
            </a:r>
            <a:r>
              <a:rPr dirty="0" err="1"/>
              <a:t>버튼으로</a:t>
            </a:r>
            <a:r>
              <a:rPr dirty="0"/>
              <a:t> </a:t>
            </a:r>
            <a:r>
              <a:rPr dirty="0" err="1"/>
              <a:t>직관적</a:t>
            </a:r>
            <a:r>
              <a:rPr dirty="0"/>
              <a:t> </a:t>
            </a:r>
            <a:r>
              <a:rPr dirty="0" err="1"/>
              <a:t>선택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동기</a:t>
            </a:r>
            <a:r>
              <a:rPr dirty="0"/>
              <a:t> &amp; </a:t>
            </a:r>
            <a:r>
              <a:rPr dirty="0" err="1"/>
              <a:t>포부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 (500자)</a:t>
            </a: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수강</a:t>
            </a:r>
            <a:r>
              <a:rPr dirty="0"/>
              <a:t> </a:t>
            </a:r>
            <a:r>
              <a:rPr dirty="0" err="1"/>
              <a:t>과목</a:t>
            </a:r>
            <a:r>
              <a:rPr dirty="0"/>
              <a:t>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기여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글자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카운터</a:t>
            </a:r>
            <a:r>
              <a:rPr dirty="0"/>
              <a:t>(0/500자)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필수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유효성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 </a:t>
            </a:r>
            <a:r>
              <a:rPr dirty="0" err="1"/>
              <a:t>적용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기술</a:t>
            </a:r>
            <a:r>
              <a:rPr dirty="0"/>
              <a:t> </a:t>
            </a:r>
            <a:r>
              <a:rPr dirty="0" err="1"/>
              <a:t>스택</a:t>
            </a:r>
            <a:r>
              <a:rPr dirty="0"/>
              <a:t> &amp;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포트폴리오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React, </a:t>
            </a:r>
            <a:r>
              <a:rPr dirty="0" err="1"/>
              <a:t>Next.js</a:t>
            </a:r>
            <a:r>
              <a:rPr dirty="0"/>
              <a:t>, Python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 </a:t>
            </a:r>
            <a:r>
              <a:rPr dirty="0" err="1"/>
              <a:t>기술과</a:t>
            </a:r>
            <a:r>
              <a:rPr dirty="0"/>
              <a:t> GitHub,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포트폴리오</a:t>
            </a:r>
            <a:r>
              <a:rPr dirty="0"/>
              <a:t> </a:t>
            </a:r>
            <a:r>
              <a:rPr dirty="0" err="1"/>
              <a:t>링크를</a:t>
            </a:r>
            <a:r>
              <a:rPr dirty="0"/>
              <a:t> </a:t>
            </a:r>
            <a:r>
              <a:rPr dirty="0" err="1"/>
              <a:t>첨부하여</a:t>
            </a:r>
            <a:r>
              <a:rPr dirty="0"/>
              <a:t> </a:t>
            </a:r>
            <a:r>
              <a:rPr dirty="0" err="1"/>
              <a:t>선발</a:t>
            </a:r>
            <a:r>
              <a:rPr dirty="0"/>
              <a:t> </a:t>
            </a: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979282-8731-2EFE-41F7-645F6B02C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263" y="1737360"/>
            <a:ext cx="3258197" cy="417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94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(5) 신규 그룹 개설 [황뚱백]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E46C0A"/>
                </a:solidFill>
                <a:latin typeface="Malgun Gothic"/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황뚱백</a:t>
            </a:r>
            <a:r>
              <a:rPr dirty="0"/>
              <a:t> 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Create Group (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공고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연결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로그인한</a:t>
            </a:r>
            <a:r>
              <a:rPr dirty="0"/>
              <a:t> </a:t>
            </a:r>
            <a:r>
              <a:rPr dirty="0" err="1"/>
              <a:t>사용자의</a:t>
            </a:r>
            <a:r>
              <a:rPr dirty="0"/>
              <a:t> </a:t>
            </a:r>
            <a:r>
              <a:rPr dirty="0" err="1"/>
              <a:t>소속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, </a:t>
            </a:r>
            <a:r>
              <a:rPr dirty="0" err="1"/>
              <a:t>소프트웨어학부</a:t>
            </a:r>
            <a:r>
              <a:rPr dirty="0"/>
              <a:t>)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공고에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반영되어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부담</a:t>
            </a:r>
            <a:r>
              <a:rPr dirty="0"/>
              <a:t> </a:t>
            </a:r>
            <a:r>
              <a:rPr dirty="0" err="1"/>
              <a:t>최소화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역할별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 </a:t>
            </a:r>
            <a:r>
              <a:rPr dirty="0" err="1"/>
              <a:t>빌더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FE, BE, AI, </a:t>
            </a:r>
            <a:r>
              <a:rPr dirty="0" err="1"/>
              <a:t>디자이너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포지션을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추가하고</a:t>
            </a:r>
            <a:r>
              <a:rPr dirty="0"/>
              <a:t> </a:t>
            </a:r>
            <a:r>
              <a:rPr dirty="0" err="1"/>
              <a:t>각각의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인원</a:t>
            </a:r>
            <a:r>
              <a:rPr dirty="0"/>
              <a:t> </a:t>
            </a:r>
            <a:r>
              <a:rPr dirty="0" err="1"/>
              <a:t>설정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유효성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 &amp; </a:t>
            </a:r>
            <a:r>
              <a:rPr dirty="0" err="1"/>
              <a:t>권한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필수</a:t>
            </a:r>
            <a:r>
              <a:rPr dirty="0"/>
              <a:t> </a:t>
            </a:r>
            <a:r>
              <a:rPr dirty="0" err="1"/>
              <a:t>항목</a:t>
            </a:r>
            <a:r>
              <a:rPr dirty="0"/>
              <a:t>(</a:t>
            </a:r>
            <a:r>
              <a:rPr dirty="0" err="1"/>
              <a:t>제목</a:t>
            </a:r>
            <a:r>
              <a:rPr dirty="0"/>
              <a:t>, </a:t>
            </a:r>
            <a:r>
              <a:rPr dirty="0" err="1"/>
              <a:t>인원수</a:t>
            </a:r>
            <a:r>
              <a:rPr dirty="0"/>
              <a:t>, </a:t>
            </a:r>
            <a:r>
              <a:rPr dirty="0" err="1"/>
              <a:t>마감일</a:t>
            </a:r>
            <a:r>
              <a:rPr dirty="0"/>
              <a:t>) </a:t>
            </a:r>
            <a:r>
              <a:rPr dirty="0" err="1"/>
              <a:t>체크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등록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작성자는</a:t>
            </a:r>
            <a:r>
              <a:rPr dirty="0"/>
              <a:t>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해당</a:t>
            </a:r>
            <a:r>
              <a:rPr dirty="0"/>
              <a:t> </a:t>
            </a:r>
            <a:r>
              <a:rPr dirty="0" err="1"/>
              <a:t>팀의</a:t>
            </a:r>
            <a:r>
              <a:rPr dirty="0"/>
              <a:t> </a:t>
            </a:r>
            <a:r>
              <a:rPr dirty="0" err="1"/>
              <a:t>LEADER로</a:t>
            </a:r>
            <a:r>
              <a:rPr dirty="0"/>
              <a:t> </a:t>
            </a:r>
            <a:r>
              <a:rPr dirty="0" err="1"/>
              <a:t>지정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E3921AF-CBF5-3E00-5529-DD976D17F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1" y="2174156"/>
            <a:ext cx="3257558" cy="31379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(6)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</a:t>
            </a:r>
            <a:r>
              <a:rPr dirty="0" err="1"/>
              <a:t>워크스페이스</a:t>
            </a:r>
            <a:r>
              <a:rPr dirty="0"/>
              <a:t> [</a:t>
            </a:r>
            <a:r>
              <a:rPr dirty="0" err="1"/>
              <a:t>응오후인트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5276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260AA5A-E43A-B557-9A22-012769AF5186}"/>
              </a:ext>
            </a:extLst>
          </p:cNvPr>
          <p:cNvSpPr/>
          <p:nvPr/>
        </p:nvSpPr>
        <p:spPr>
          <a:xfrm>
            <a:off x="439783" y="1321308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1DDB01-444A-0FE3-1A1E-45E361AB2053}"/>
              </a:ext>
            </a:extLst>
          </p:cNvPr>
          <p:cNvSpPr txBox="1"/>
          <p:nvPr/>
        </p:nvSpPr>
        <p:spPr>
          <a:xfrm>
            <a:off x="622663" y="1412748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271CAE-D1C3-475B-D0E4-E04095CF0CCE}"/>
              </a:ext>
            </a:extLst>
          </p:cNvPr>
          <p:cNvSpPr/>
          <p:nvPr/>
        </p:nvSpPr>
        <p:spPr>
          <a:xfrm>
            <a:off x="4772299" y="1321308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B3C16-D089-187A-D13B-633D3D8976A9}"/>
              </a:ext>
            </a:extLst>
          </p:cNvPr>
          <p:cNvSpPr txBox="1"/>
          <p:nvPr/>
        </p:nvSpPr>
        <p:spPr>
          <a:xfrm>
            <a:off x="4955179" y="1504188"/>
            <a:ext cx="3520440" cy="3639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lang="en-KR" dirty="0"/>
              <a:t>📋 </a:t>
            </a:r>
            <a:r>
              <a:rPr lang="ko-KR" altLang="en-US" dirty="0"/>
              <a:t>담당 역할 </a:t>
            </a:r>
            <a:r>
              <a:rPr lang="en-US" altLang="ko-KR" dirty="0"/>
              <a:t>&amp; </a:t>
            </a:r>
            <a:r>
              <a:rPr lang="ko-KR" altLang="en-US" dirty="0"/>
              <a:t>핵심 구현 기능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담당 팀원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ko-KR" altLang="en-US" dirty="0" err="1"/>
              <a:t>응오후인트</a:t>
            </a:r>
            <a:endParaRPr lang="ko-KR" alt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dirty="0"/>
              <a:t>Manage (</a:t>
            </a:r>
            <a:r>
              <a:rPr lang="ko-KR" altLang="en-US" dirty="0"/>
              <a:t>그룹 관리 및 지원자 심사 페이지</a:t>
            </a:r>
            <a:r>
              <a:rPr lang="en-US" altLang="ko-KR"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리더 대시보드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내가 개설한 프로젝트의 현재 팀원 수와 모집 진행 상태를 한눈에 파악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지원자 검토 카드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지원자의 </a:t>
            </a:r>
            <a:r>
              <a:rPr lang="en-US" dirty="0"/>
              <a:t>u-SAINT </a:t>
            </a:r>
            <a:r>
              <a:rPr lang="ko-KR" altLang="en-US" dirty="0"/>
              <a:t>실명</a:t>
            </a:r>
            <a:r>
              <a:rPr lang="en-US" altLang="ko-KR" dirty="0"/>
              <a:t>, </a:t>
            </a:r>
            <a:r>
              <a:rPr lang="ko-KR" altLang="en-US" dirty="0"/>
              <a:t>학과</a:t>
            </a:r>
            <a:r>
              <a:rPr lang="en-US" altLang="ko-KR" dirty="0"/>
              <a:t>, </a:t>
            </a:r>
            <a:r>
              <a:rPr lang="ko-KR" altLang="en-US" dirty="0"/>
              <a:t>학년</a:t>
            </a:r>
            <a:r>
              <a:rPr lang="en-US" altLang="ko-KR" dirty="0"/>
              <a:t>, </a:t>
            </a:r>
            <a:r>
              <a:rPr lang="ko-KR" altLang="en-US" dirty="0"/>
              <a:t>희망 포지션</a:t>
            </a:r>
            <a:r>
              <a:rPr lang="en-US" altLang="ko-KR" dirty="0"/>
              <a:t>, </a:t>
            </a:r>
            <a:r>
              <a:rPr lang="ko-KR" altLang="en-US" dirty="0"/>
              <a:t>지원 메시지를 카드로 직관적 제공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 err="1"/>
              <a:t>원클릭</a:t>
            </a:r>
            <a:r>
              <a:rPr lang="ko-KR" altLang="en-US" dirty="0"/>
              <a:t> 수락</a:t>
            </a:r>
            <a:r>
              <a:rPr lang="en-US" altLang="ko-KR" dirty="0"/>
              <a:t>/</a:t>
            </a:r>
            <a:r>
              <a:rPr lang="ko-KR" altLang="en-US" dirty="0"/>
              <a:t>거절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altLang="ko-KR" dirty="0"/>
              <a:t>[</a:t>
            </a:r>
            <a:r>
              <a:rPr lang="ko-KR" altLang="en-US" dirty="0"/>
              <a:t>수락</a:t>
            </a:r>
            <a:r>
              <a:rPr lang="en-US" altLang="ko-KR" dirty="0"/>
              <a:t>] </a:t>
            </a:r>
            <a:r>
              <a:rPr lang="ko-KR" altLang="en-US" dirty="0"/>
              <a:t>클릭 시 즉시 정식 팀원으로 등록되며</a:t>
            </a:r>
            <a:r>
              <a:rPr lang="en-US" altLang="ko-KR" dirty="0"/>
              <a:t>, </a:t>
            </a:r>
            <a:r>
              <a:rPr lang="ko-KR" altLang="en-US" dirty="0"/>
              <a:t>정원이 모두 차면 공고가 자동으로 모집 마감 처리됨</a:t>
            </a:r>
          </a:p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endParaRPr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5A6188B-6B84-FBE2-E32E-16F23C3E7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17" y="2823689"/>
            <a:ext cx="3709852" cy="12106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(7) 마이페이지 [응웬치롱]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응웬치롱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My Page (</a:t>
            </a:r>
            <a:r>
              <a:rPr dirty="0" err="1"/>
              <a:t>학생</a:t>
            </a:r>
            <a:r>
              <a:rPr dirty="0"/>
              <a:t>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카드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</a:t>
            </a:r>
            <a:r>
              <a:rPr dirty="0" err="1"/>
              <a:t>연동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학번</a:t>
            </a:r>
            <a:r>
              <a:rPr dirty="0"/>
              <a:t>, </a:t>
            </a:r>
            <a:r>
              <a:rPr dirty="0" err="1"/>
              <a:t>소속</a:t>
            </a:r>
            <a:r>
              <a:rPr dirty="0"/>
              <a:t> </a:t>
            </a:r>
            <a:r>
              <a:rPr dirty="0" err="1"/>
              <a:t>단과대</a:t>
            </a:r>
            <a:r>
              <a:rPr dirty="0"/>
              <a:t>/</a:t>
            </a:r>
            <a:r>
              <a:rPr dirty="0" err="1"/>
              <a:t>학부</a:t>
            </a:r>
            <a:r>
              <a:rPr dirty="0"/>
              <a:t>, </a:t>
            </a:r>
            <a:r>
              <a:rPr dirty="0" err="1"/>
              <a:t>학년</a:t>
            </a:r>
            <a:r>
              <a:rPr dirty="0"/>
              <a:t>)</a:t>
            </a:r>
            <a:r>
              <a:rPr dirty="0" err="1"/>
              <a:t>와</a:t>
            </a:r>
            <a:r>
              <a:rPr dirty="0"/>
              <a:t> </a:t>
            </a:r>
            <a:r>
              <a:rPr dirty="0" err="1"/>
              <a:t>보유</a:t>
            </a:r>
            <a:r>
              <a:rPr dirty="0"/>
              <a:t> </a:t>
            </a:r>
            <a:r>
              <a:rPr dirty="0" err="1"/>
              <a:t>기술</a:t>
            </a:r>
            <a:r>
              <a:rPr dirty="0"/>
              <a:t> </a:t>
            </a:r>
            <a:r>
              <a:rPr dirty="0" err="1"/>
              <a:t>스택</a:t>
            </a:r>
            <a:r>
              <a:rPr dirty="0"/>
              <a:t> </a:t>
            </a:r>
            <a:r>
              <a:rPr dirty="0" err="1"/>
              <a:t>뱃지</a:t>
            </a:r>
            <a:r>
              <a:rPr dirty="0"/>
              <a:t> </a:t>
            </a:r>
            <a:r>
              <a:rPr dirty="0" err="1"/>
              <a:t>표시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목록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속해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프로젝트</a:t>
            </a:r>
            <a:r>
              <a:rPr dirty="0"/>
              <a:t>/</a:t>
            </a:r>
            <a:r>
              <a:rPr dirty="0" err="1"/>
              <a:t>스터디</a:t>
            </a:r>
            <a:r>
              <a:rPr dirty="0"/>
              <a:t> </a:t>
            </a:r>
            <a:r>
              <a:rPr dirty="0" err="1"/>
              <a:t>목록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현황</a:t>
            </a:r>
            <a:r>
              <a:rPr dirty="0"/>
              <a:t> </a:t>
            </a:r>
            <a:r>
              <a:rPr dirty="0" err="1"/>
              <a:t>한눈에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지원한</a:t>
            </a:r>
            <a:r>
              <a:rPr dirty="0"/>
              <a:t> </a:t>
            </a:r>
            <a:r>
              <a:rPr dirty="0" err="1"/>
              <a:t>그룹의</a:t>
            </a:r>
            <a:r>
              <a:rPr dirty="0"/>
              <a:t> </a:t>
            </a: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[</a:t>
            </a:r>
            <a:r>
              <a:rPr dirty="0" err="1"/>
              <a:t>검토중</a:t>
            </a:r>
            <a:r>
              <a:rPr dirty="0"/>
              <a:t> (🟡)], [</a:t>
            </a:r>
            <a:r>
              <a:rPr dirty="0" err="1"/>
              <a:t>승인됨</a:t>
            </a:r>
            <a:r>
              <a:rPr dirty="0"/>
              <a:t> (🟢)], [</a:t>
            </a:r>
            <a:r>
              <a:rPr dirty="0" err="1"/>
              <a:t>반려됨</a:t>
            </a:r>
            <a:r>
              <a:rPr dirty="0"/>
              <a:t> (🔴)] </a:t>
            </a:r>
            <a:r>
              <a:rPr dirty="0" err="1"/>
              <a:t>뱃지로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파악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D0E9DF-FD83-00B9-F5D4-6B8BE9F8C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72" y="1825661"/>
            <a:ext cx="3543456" cy="37690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(8) 데이터베이스 설계 (ERD)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28016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4AC6"/>
                </a:solidFill>
                <a:latin typeface="Malgun Gothic"/>
              </a:defRPr>
            </a:pPr>
            <a:r>
              <a:t>users (학생 정보)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student_id (UNIQUE)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name, email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department, faculty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academic_year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18872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33472" y="128016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4061"/>
                </a:solidFill>
                <a:latin typeface="Malgun Gothic"/>
              </a:defRPr>
            </a:pPr>
            <a:r>
              <a:t>study_groups (모집 그룹)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69164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leader_id (FK -&gt; users)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title, description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college, department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post_year, max_members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93192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46C0A"/>
                </a:solidFill>
                <a:latin typeface="Malgun Gothic"/>
              </a:defRPr>
            </a:pPr>
            <a:r>
              <a:t>applications (지원서)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34340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group_id (FK -&gt; study_groups)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applicant_id (FK -&gt; users)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statement (지원 동기)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status (PENDING, ACCEPTED)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384048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33472" y="3931920"/>
            <a:ext cx="177393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algun Gothic"/>
              </a:defRPr>
            </a:pPr>
            <a:r>
              <a:rPr dirty="0" err="1"/>
              <a:t>group_members</a:t>
            </a:r>
            <a:r>
              <a:rPr dirty="0"/>
              <a:t> (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매핑</a:t>
            </a:r>
            <a:r>
              <a:rPr dirty="0"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434340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group_id</a:t>
            </a:r>
            <a:r>
              <a:rPr dirty="0"/>
              <a:t> (PK, FK)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user_id</a:t>
            </a:r>
            <a:r>
              <a:rPr dirty="0"/>
              <a:t>  (PK, FK)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role (LEADER / MEMBER)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joined_at</a:t>
            </a:r>
            <a:r>
              <a:rPr dirty="0"/>
              <a:t> (</a:t>
            </a:r>
            <a:r>
              <a:rPr dirty="0" err="1"/>
              <a:t>가입일시</a:t>
            </a:r>
            <a:r>
              <a:rPr dirty="0"/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t>🛡️ DB 무결성 및 성능 최적화 포인트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중복 지원 차단 (Unique)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applications 테이블에 (group_id, applicant_id) 복합 유니크 제약으로 중복 지원 원천 방지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초고속 3단계 검색 (Index)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study_groups 테이블의 단과대, 학과, 연도 컬럼에 B-Tree 인덱스를 설정하여 대규모 공고도 즉시 조회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비밀번호 미보관 (보안)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users 테이블에 비밀번호 컬럼 자체가 없으며, u-SAINT 포털 검증 후 JWT 세션만 발급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Neon Serverless Cloud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클라우드 분산 PostgreSQL로 자동 스케일링 및 SSL 암호화 안전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2231</Words>
  <Application>Microsoft Macintosh PowerPoint</Application>
  <PresentationFormat>On-screen Show (4:3)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TRUNG HAU</cp:lastModifiedBy>
  <cp:revision>20</cp:revision>
  <dcterms:created xsi:type="dcterms:W3CDTF">2013-01-27T09:14:16Z</dcterms:created>
  <dcterms:modified xsi:type="dcterms:W3CDTF">2026-10-19T12:06:30Z</dcterms:modified>
  <cp:category/>
</cp:coreProperties>
</file>